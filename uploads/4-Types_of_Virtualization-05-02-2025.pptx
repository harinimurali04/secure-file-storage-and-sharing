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4" r:id="rId7"/>
    <p:sldId id="263" r:id="rId8"/>
    <p:sldId id="265" r:id="rId9"/>
    <p:sldId id="281" r:id="rId10"/>
    <p:sldId id="257" r:id="rId11"/>
    <p:sldId id="258" r:id="rId12"/>
    <p:sldId id="266" r:id="rId13"/>
    <p:sldId id="267" r:id="rId14"/>
    <p:sldId id="268" r:id="rId15"/>
    <p:sldId id="269" r:id="rId16"/>
    <p:sldId id="270" r:id="rId17"/>
    <p:sldId id="271" r:id="rId18"/>
    <p:sldId id="272" r:id="rId19"/>
    <p:sldId id="273" r:id="rId20"/>
    <p:sldId id="274" r:id="rId21"/>
    <p:sldId id="275" r:id="rId22"/>
    <p:sldId id="277" r:id="rId23"/>
    <p:sldId id="276" r:id="rId24"/>
    <p:sldId id="279" r:id="rId25"/>
    <p:sldId id="278"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3" r:id="rId58"/>
    <p:sldId id="314" r:id="rId59"/>
    <p:sldId id="312" r:id="rId60"/>
    <p:sldId id="315" r:id="rId61"/>
    <p:sldId id="316" r:id="rId62"/>
    <p:sldId id="31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67443-A235-3380-27E0-39DD23F9CC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32E072-407F-D91E-8674-7B868D1CE7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4CB90B-42D3-52DD-6E42-04F2EC5FF272}"/>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1FDA4F6D-A67B-ED6F-BC4F-F9BCD5C5F1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D26F89-D700-CAD1-B1F9-36C6E05E8176}"/>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1915042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0B79-6922-F2AF-F4AE-19C3E02DE4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EC4568-735C-15CA-A2DD-92AB7B1D8F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F7E64-948E-027A-FDDF-273C0FAD95D2}"/>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608334EC-E828-29C5-5717-8E2E8AFF60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5FFA6-DF6F-4749-192A-A0701FBC16AD}"/>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1772091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D5A88-C77B-108D-0854-B325F4565E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E7C04E-9925-5E66-1C7E-0B453844DD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33FF2A-1C6C-118B-8368-4998CEF24B29}"/>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463E157B-26FA-3244-E9CB-FD7108E97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D9563F-B31A-F2DD-5D52-0876DEF93E67}"/>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3733646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1B61-2F5A-DB34-14F2-E61D8A2666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4B253E-7726-06FB-D490-A3E3F54276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F77A8E-A434-C78D-6A0A-909B665F16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2C32C7-5C8E-0074-F464-BAEDCC57CA50}"/>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6" name="Footer Placeholder 5">
            <a:extLst>
              <a:ext uri="{FF2B5EF4-FFF2-40B4-BE49-F238E27FC236}">
                <a16:creationId xmlns:a16="http://schemas.microsoft.com/office/drawing/2014/main" id="{BA8E0355-CFBD-62AD-D7A4-272D9B2AAC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7A5264-4397-DEEC-A5FB-B799075698C5}"/>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406970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98DA-7A95-AA71-BA0B-57B3818F75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0D8C4A-920A-B769-24D3-7BEA6E474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38BF2F-0030-B2D0-B0D7-480AB33E9B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025973-D769-0DEA-5B5A-7595A554DA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611D3-F666-24FC-7D1D-6900146013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207D9D-2F0F-09A2-A8A0-D61E6F2877EF}"/>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8" name="Footer Placeholder 7">
            <a:extLst>
              <a:ext uri="{FF2B5EF4-FFF2-40B4-BE49-F238E27FC236}">
                <a16:creationId xmlns:a16="http://schemas.microsoft.com/office/drawing/2014/main" id="{E6BCB42A-2E6B-C7E9-9C6D-67635BF4DA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39A29E-BA4A-71E2-C290-A056AD4F2984}"/>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1020726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9416-BD69-09FC-56D3-74D7832A94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B01AC2-3048-1808-C61E-D61A298B89D8}"/>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4" name="Footer Placeholder 3">
            <a:extLst>
              <a:ext uri="{FF2B5EF4-FFF2-40B4-BE49-F238E27FC236}">
                <a16:creationId xmlns:a16="http://schemas.microsoft.com/office/drawing/2014/main" id="{4B1AC203-B30A-F599-F493-6E9E4BBDD4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9D8621-3D00-2DCA-2EC7-AEB36888A100}"/>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148272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695C08-F0A1-E4C0-7063-BC0B22D37471}"/>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3" name="Footer Placeholder 2">
            <a:extLst>
              <a:ext uri="{FF2B5EF4-FFF2-40B4-BE49-F238E27FC236}">
                <a16:creationId xmlns:a16="http://schemas.microsoft.com/office/drawing/2014/main" id="{2E221A58-593D-24C4-9BB5-B96BF18BEF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A38475-FE9E-AE77-F3AF-E069D5CECEA5}"/>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3566799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0F8A-C401-1C03-2D40-06A51AA4BE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C16994-0628-7F95-4313-9ED407A213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516D50-9E5E-FA19-88F9-861FEC1983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87600-5E8A-255A-1364-D878A4FBE792}"/>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6" name="Footer Placeholder 5">
            <a:extLst>
              <a:ext uri="{FF2B5EF4-FFF2-40B4-BE49-F238E27FC236}">
                <a16:creationId xmlns:a16="http://schemas.microsoft.com/office/drawing/2014/main" id="{DC67B461-ED7B-54D6-58C7-995D166E1C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356801-90C1-6DFA-CE40-0EFC2EAECA33}"/>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4151312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CBB3-1579-DD92-3B92-433C5CB18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8345468-06D7-4470-55C4-9E5011D731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B4B975-0121-AB7F-CDCE-FCADB7D99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2DCCF-EBB6-EFE0-9B2E-16CCDA537A2F}"/>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6" name="Footer Placeholder 5">
            <a:extLst>
              <a:ext uri="{FF2B5EF4-FFF2-40B4-BE49-F238E27FC236}">
                <a16:creationId xmlns:a16="http://schemas.microsoft.com/office/drawing/2014/main" id="{FF85BB0D-CA3D-90F8-38DE-44B135FF1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13B506-4D55-A108-2A3C-102C1593D19F}"/>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4282624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20F2D-AB26-133F-15F0-BA68722EB2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AA170D-1C36-F666-381E-20FBF6AA68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4F869C-7C8D-8F0F-C6E3-BC44B2ED52DE}"/>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84CF93C1-701B-57F7-54CC-2AFB3BDE7E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4029FC-46CB-DFC9-443D-0322145F6EA1}"/>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1478768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8FF46D-6AA8-5BFE-A676-3DC80F3BC0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801819-8759-92F5-0C44-ED23588B62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6E30CF-8C1F-F182-00D3-2F4C79377995}"/>
              </a:ext>
            </a:extLst>
          </p:cNvPr>
          <p:cNvSpPr>
            <a:spLocks noGrp="1"/>
          </p:cNvSpPr>
          <p:nvPr>
            <p:ph type="dt" sz="half" idx="10"/>
          </p:nvPr>
        </p:nvSpPr>
        <p:spPr/>
        <p:txBody>
          <a:body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D5148826-D1EB-420A-BDFD-B57BE6B5F1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53AED-257E-5B7F-1910-ED1013067117}"/>
              </a:ext>
            </a:extLst>
          </p:cNvPr>
          <p:cNvSpPr>
            <a:spLocks noGrp="1"/>
          </p:cNvSpPr>
          <p:nvPr>
            <p:ph type="sldNum" sz="quarter" idx="12"/>
          </p:nvPr>
        </p:nvSpPr>
        <p:spPr/>
        <p:txBody>
          <a:bodyPr/>
          <a:lstStyle/>
          <a:p>
            <a:fld id="{C82D568E-1CFA-474D-911D-D3D02FAF33D1}" type="slidenum">
              <a:rPr lang="en-IN" smtClean="0"/>
              <a:t>‹#›</a:t>
            </a:fld>
            <a:endParaRPr lang="en-IN"/>
          </a:p>
        </p:txBody>
      </p:sp>
    </p:spTree>
    <p:extLst>
      <p:ext uri="{BB962C8B-B14F-4D97-AF65-F5344CB8AC3E}">
        <p14:creationId xmlns:p14="http://schemas.microsoft.com/office/powerpoint/2010/main" val="212304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B9A857-E7A0-CCC2-78E4-CBBED5AEE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7C44FF-BA40-01BF-D711-DE57D46044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3CACF1-077B-2C63-828A-4975882D27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A9C39-A6A9-48D4-A30C-CE4E828A705D}" type="datetimeFigureOut">
              <a:rPr lang="en-IN" smtClean="0"/>
              <a:t>22-08-2023</a:t>
            </a:fld>
            <a:endParaRPr lang="en-IN"/>
          </a:p>
        </p:txBody>
      </p:sp>
      <p:sp>
        <p:nvSpPr>
          <p:cNvPr id="5" name="Footer Placeholder 4">
            <a:extLst>
              <a:ext uri="{FF2B5EF4-FFF2-40B4-BE49-F238E27FC236}">
                <a16:creationId xmlns:a16="http://schemas.microsoft.com/office/drawing/2014/main" id="{B16B368D-5344-4DB2-505D-ADB85FBBBA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39194FA-D8FA-97E9-1BB2-0FA59D4725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2D568E-1CFA-474D-911D-D3D02FAF33D1}" type="slidenum">
              <a:rPr lang="en-IN" smtClean="0"/>
              <a:t>‹#›</a:t>
            </a:fld>
            <a:endParaRPr lang="en-IN"/>
          </a:p>
        </p:txBody>
      </p:sp>
    </p:spTree>
    <p:extLst>
      <p:ext uri="{BB962C8B-B14F-4D97-AF65-F5344CB8AC3E}">
        <p14:creationId xmlns:p14="http://schemas.microsoft.com/office/powerpoint/2010/main" val="1528930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slide" Target="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2C93E-7B84-9827-8602-330345A8883E}"/>
              </a:ext>
            </a:extLst>
          </p:cNvPr>
          <p:cNvSpPr>
            <a:spLocks noGrp="1"/>
          </p:cNvSpPr>
          <p:nvPr>
            <p:ph type="ctrTitle"/>
          </p:nvPr>
        </p:nvSpPr>
        <p:spPr/>
        <p:txBody>
          <a:bodyPr/>
          <a:lstStyle/>
          <a:p>
            <a:r>
              <a:rPr lang="en-IN" b="1" dirty="0">
                <a:latin typeface="Times New Roman" panose="02020603050405020304" pitchFamily="18" charset="0"/>
                <a:cs typeface="Times New Roman" panose="02020603050405020304" pitchFamily="18" charset="0"/>
              </a:rPr>
              <a:t>Basics of Virtualization</a:t>
            </a:r>
          </a:p>
        </p:txBody>
      </p:sp>
      <p:sp>
        <p:nvSpPr>
          <p:cNvPr id="3" name="Subtitle 2">
            <a:extLst>
              <a:ext uri="{FF2B5EF4-FFF2-40B4-BE49-F238E27FC236}">
                <a16:creationId xmlns:a16="http://schemas.microsoft.com/office/drawing/2014/main" id="{3F658CC5-9301-4047-BBAD-DF5F73F7F0AB}"/>
              </a:ext>
            </a:extLst>
          </p:cNvPr>
          <p:cNvSpPr>
            <a:spLocks noGrp="1"/>
          </p:cNvSpPr>
          <p:nvPr>
            <p:ph type="subTitle" idx="1"/>
          </p:nvPr>
        </p:nvSpPr>
        <p:spPr/>
        <p:txBody>
          <a:bodyPr/>
          <a:lstStyle/>
          <a:p>
            <a:r>
              <a:rPr lang="en-IN" dirty="0"/>
              <a:t>Module 3</a:t>
            </a:r>
          </a:p>
        </p:txBody>
      </p:sp>
    </p:spTree>
    <p:extLst>
      <p:ext uri="{BB962C8B-B14F-4D97-AF65-F5344CB8AC3E}">
        <p14:creationId xmlns:p14="http://schemas.microsoft.com/office/powerpoint/2010/main" val="3701541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E31EFE-BE88-2AF6-2C8A-FD77AF2AAD91}"/>
              </a:ext>
            </a:extLst>
          </p:cNvPr>
          <p:cNvSpPr txBox="1"/>
          <p:nvPr/>
        </p:nvSpPr>
        <p:spPr>
          <a:xfrm>
            <a:off x="3711874" y="121572"/>
            <a:ext cx="4768251" cy="461665"/>
          </a:xfrm>
          <a:prstGeom prst="rect">
            <a:avLst/>
          </a:prstGeom>
          <a:noFill/>
        </p:spPr>
        <p:txBody>
          <a:bodyPr wrap="square">
            <a:spAutoFit/>
          </a:bodyPr>
          <a:lstStyle/>
          <a:p>
            <a:pPr algn="just"/>
            <a:r>
              <a:rPr lang="en-IN" sz="2400" b="1" i="0" dirty="0">
                <a:solidFill>
                  <a:srgbClr val="610B38"/>
                </a:solidFill>
                <a:effectLst/>
                <a:latin typeface="Times New Roman" panose="02020603050405020304" pitchFamily="18" charset="0"/>
                <a:cs typeface="Times New Roman" panose="02020603050405020304" pitchFamily="18" charset="0"/>
              </a:rPr>
              <a:t>Virtualization in Cloud Computing</a:t>
            </a:r>
          </a:p>
        </p:txBody>
      </p:sp>
      <p:sp>
        <p:nvSpPr>
          <p:cNvPr id="5" name="TextBox 4">
            <a:extLst>
              <a:ext uri="{FF2B5EF4-FFF2-40B4-BE49-F238E27FC236}">
                <a16:creationId xmlns:a16="http://schemas.microsoft.com/office/drawing/2014/main" id="{5E7CF551-B8E9-A18C-6A2B-6F81AEA831E7}"/>
              </a:ext>
            </a:extLst>
          </p:cNvPr>
          <p:cNvSpPr txBox="1"/>
          <p:nvPr/>
        </p:nvSpPr>
        <p:spPr>
          <a:xfrm>
            <a:off x="304080" y="842853"/>
            <a:ext cx="11669383" cy="4893647"/>
          </a:xfrm>
          <a:prstGeom prst="rect">
            <a:avLst/>
          </a:prstGeom>
          <a:noFill/>
        </p:spPr>
        <p:txBody>
          <a:bodyPr wrap="square">
            <a:spAutoFit/>
          </a:bodyPr>
          <a:lstStyle/>
          <a:p>
            <a:pPr algn="just"/>
            <a:r>
              <a:rPr lang="en-US" sz="2400" b="1" i="0" dirty="0">
                <a:solidFill>
                  <a:srgbClr val="333333"/>
                </a:solidFill>
                <a:effectLst/>
                <a:latin typeface="Times New Roman" panose="02020603050405020304" pitchFamily="18" charset="0"/>
                <a:cs typeface="Times New Roman" panose="02020603050405020304" pitchFamily="18" charset="0"/>
              </a:rPr>
              <a:t>Virtualization</a:t>
            </a:r>
            <a:r>
              <a:rPr lang="en-US" sz="2400" b="0" i="0" dirty="0">
                <a:solidFill>
                  <a:srgbClr val="333333"/>
                </a:solidFill>
                <a:effectLst/>
                <a:latin typeface="Times New Roman" panose="02020603050405020304" pitchFamily="18" charset="0"/>
                <a:cs typeface="Times New Roman" panose="02020603050405020304" pitchFamily="18" charset="0"/>
              </a:rPr>
              <a:t> is the "creation of a virtual (rather than actual) version of something, such as a server, a desktop, a storage device, an operating system or network resources".</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 other words, Virtualization is a technique, which allows to share a single physical instance of a resource or an application among multiple customers and organizations. It does by assigning a logical name to a physical storage and providing a pointer to that physical resource when demanded.</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 Virtual machine provides an environment that is logically separated from the underlying hardware.</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1" i="1" dirty="0">
                <a:solidFill>
                  <a:srgbClr val="FF0000"/>
                </a:solidFill>
                <a:effectLst/>
                <a:latin typeface="Times New Roman" panose="02020603050405020304" pitchFamily="18" charset="0"/>
                <a:cs typeface="Times New Roman" panose="02020603050405020304" pitchFamily="18" charset="0"/>
              </a:rPr>
              <a:t>The machine on which the virtual machine is going to create is known as Host Machine and that virtual machine is referred as a Guest Machine</a:t>
            </a:r>
          </a:p>
        </p:txBody>
      </p:sp>
    </p:spTree>
    <p:extLst>
      <p:ext uri="{BB962C8B-B14F-4D97-AF65-F5344CB8AC3E}">
        <p14:creationId xmlns:p14="http://schemas.microsoft.com/office/powerpoint/2010/main" val="3162048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BABFFC-16DD-A6B5-539E-C139CBEF0842}"/>
              </a:ext>
            </a:extLst>
          </p:cNvPr>
          <p:cNvSpPr txBox="1"/>
          <p:nvPr/>
        </p:nvSpPr>
        <p:spPr>
          <a:xfrm>
            <a:off x="1749365" y="147451"/>
            <a:ext cx="8693270"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Virtual machines: virtual computers within computers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12CC23-D7A8-16CB-C110-5CFD53E34D47}"/>
              </a:ext>
            </a:extLst>
          </p:cNvPr>
          <p:cNvSpPr txBox="1"/>
          <p:nvPr/>
        </p:nvSpPr>
        <p:spPr>
          <a:xfrm>
            <a:off x="304081" y="1006755"/>
            <a:ext cx="11600372" cy="4524315"/>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Virtualization is the process of creating a software-based, or "virtual" version of a computer, with dedicated amounts of CPU, memory, and storage that are "borrowed" from a physical host computer—such as your personal computer— and/or a remote server—such as a server in a cloud provider's datacenter.</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virtual machine is a computer file, typically called an image, that behaves like an actual computer. It can run in a window as a separate computing environment, often to run a different operating system—or even to function as the user's entire computer experience—as is common on many people's work computers.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virtual machine is partitioned from the rest of the system, meaning that the software inside a VM can't interfere with the host computer's primary operating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641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n illustration of virtual computers stored inside physical computers as code.">
            <a:extLst>
              <a:ext uri="{FF2B5EF4-FFF2-40B4-BE49-F238E27FC236}">
                <a16:creationId xmlns:a16="http://schemas.microsoft.com/office/drawing/2014/main" id="{06121213-B211-02E8-C4EA-90EBF5626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649" y="1006765"/>
            <a:ext cx="14593022" cy="4913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992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218D25-8838-31E4-EB83-4FDB277C82C8}"/>
              </a:ext>
            </a:extLst>
          </p:cNvPr>
          <p:cNvSpPr txBox="1"/>
          <p:nvPr/>
        </p:nvSpPr>
        <p:spPr>
          <a:xfrm>
            <a:off x="4095750" y="164703"/>
            <a:ext cx="4000500" cy="523220"/>
          </a:xfrm>
          <a:prstGeom prst="rect">
            <a:avLst/>
          </a:prstGeom>
          <a:noFill/>
        </p:spPr>
        <p:txBody>
          <a:bodyPr wrap="square">
            <a:spAutoFit/>
          </a:bodyPr>
          <a:lstStyle/>
          <a:p>
            <a:pPr algn="l"/>
            <a:r>
              <a:rPr lang="en-US" sz="2800" b="1" i="0" dirty="0">
                <a:solidFill>
                  <a:srgbClr val="000000"/>
                </a:solidFill>
                <a:effectLst/>
                <a:latin typeface="Times New Roman" panose="02020603050405020304" pitchFamily="18" charset="0"/>
                <a:cs typeface="Times New Roman" panose="02020603050405020304" pitchFamily="18" charset="0"/>
              </a:rPr>
              <a:t>What are VMs used for?</a:t>
            </a:r>
          </a:p>
        </p:txBody>
      </p:sp>
      <p:sp>
        <p:nvSpPr>
          <p:cNvPr id="5" name="TextBox 4">
            <a:extLst>
              <a:ext uri="{FF2B5EF4-FFF2-40B4-BE49-F238E27FC236}">
                <a16:creationId xmlns:a16="http://schemas.microsoft.com/office/drawing/2014/main" id="{5B598780-E7DD-131A-3E94-024E4E639732}"/>
              </a:ext>
            </a:extLst>
          </p:cNvPr>
          <p:cNvSpPr txBox="1"/>
          <p:nvPr/>
        </p:nvSpPr>
        <p:spPr>
          <a:xfrm>
            <a:off x="157431" y="1048933"/>
            <a:ext cx="11841911" cy="4524315"/>
          </a:xfrm>
          <a:prstGeom prst="rect">
            <a:avLst/>
          </a:prstGeom>
          <a:noFill/>
        </p:spPr>
        <p:txBody>
          <a:bodyPr wrap="square">
            <a:spAutoFit/>
          </a:bodyPr>
          <a:lstStyle/>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Building and deploying apps to the cloud.</a:t>
            </a:r>
          </a:p>
          <a:p>
            <a:pPr algn="l">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Trying out a new operating system (OS), including beta releases.</a:t>
            </a:r>
          </a:p>
          <a:p>
            <a:pPr algn="l">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Spinning up a new environment to make it simpler and quicker for developers to run dev-test scenarios.</a:t>
            </a:r>
          </a:p>
          <a:p>
            <a:pPr algn="l">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Backing up your existing OS.</a:t>
            </a:r>
          </a:p>
          <a:p>
            <a:pPr algn="l">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Accessing virus-infected data or running an old application by installing an older OS.</a:t>
            </a:r>
          </a:p>
          <a:p>
            <a:pPr algn="l">
              <a:buFont typeface="Arial" panose="020B0604020202020204" pitchFamily="34" charset="0"/>
              <a:buChar char="•"/>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Running software or apps on operating systems that they weren't originally intended for.</a:t>
            </a:r>
          </a:p>
        </p:txBody>
      </p:sp>
    </p:spTree>
    <p:extLst>
      <p:ext uri="{BB962C8B-B14F-4D97-AF65-F5344CB8AC3E}">
        <p14:creationId xmlns:p14="http://schemas.microsoft.com/office/powerpoint/2010/main" val="3424883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C55C2-0597-F331-7502-485943C6B329}"/>
              </a:ext>
            </a:extLst>
          </p:cNvPr>
          <p:cNvSpPr txBox="1"/>
          <p:nvPr/>
        </p:nvSpPr>
        <p:spPr>
          <a:xfrm>
            <a:off x="3146844" y="181957"/>
            <a:ext cx="5898312" cy="523220"/>
          </a:xfrm>
          <a:prstGeom prst="rect">
            <a:avLst/>
          </a:prstGeom>
          <a:noFill/>
        </p:spPr>
        <p:txBody>
          <a:bodyPr wrap="square">
            <a:spAutoFit/>
          </a:bodyPr>
          <a:lstStyle/>
          <a:p>
            <a:pPr algn="l"/>
            <a:r>
              <a:rPr lang="en-US" sz="2800" b="1" i="0" dirty="0">
                <a:solidFill>
                  <a:srgbClr val="000000"/>
                </a:solidFill>
                <a:effectLst/>
                <a:latin typeface="Times New Roman" panose="02020603050405020304" pitchFamily="18" charset="0"/>
                <a:cs typeface="Times New Roman" panose="02020603050405020304" pitchFamily="18" charset="0"/>
              </a:rPr>
              <a:t>What are the benefits of using VMs?</a:t>
            </a:r>
          </a:p>
        </p:txBody>
      </p:sp>
      <p:sp>
        <p:nvSpPr>
          <p:cNvPr id="5" name="TextBox 4">
            <a:extLst>
              <a:ext uri="{FF2B5EF4-FFF2-40B4-BE49-F238E27FC236}">
                <a16:creationId xmlns:a16="http://schemas.microsoft.com/office/drawing/2014/main" id="{EBC171ED-19F6-8D9A-9F3B-50995A815260}"/>
              </a:ext>
            </a:extLst>
          </p:cNvPr>
          <p:cNvSpPr txBox="1"/>
          <p:nvPr/>
        </p:nvSpPr>
        <p:spPr>
          <a:xfrm>
            <a:off x="209190" y="902805"/>
            <a:ext cx="11721141" cy="5632311"/>
          </a:xfrm>
          <a:prstGeom prst="rect">
            <a:avLst/>
          </a:prstGeom>
          <a:noFill/>
        </p:spPr>
        <p:txBody>
          <a:bodyPr wrap="square">
            <a:spAutoFit/>
          </a:bodyPr>
          <a:lstStyle/>
          <a:p>
            <a:pPr algn="l">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Cost savings</a:t>
            </a:r>
            <a:r>
              <a:rPr lang="en-US" sz="2400" b="0" i="0" dirty="0">
                <a:solidFill>
                  <a:srgbClr val="000000"/>
                </a:solidFill>
                <a:effectLst/>
                <a:latin typeface="Times New Roman" panose="02020603050405020304" pitchFamily="18" charset="0"/>
                <a:cs typeface="Times New Roman" panose="02020603050405020304" pitchFamily="18" charset="0"/>
              </a:rPr>
              <a:t>—running multiple virtual environments from one piece of infrastructure means that you can drastically reduce your physical infrastructure footprint. This boosts your bottom line—decreasing the need to maintain nearly as many servers and saving on maintenance costs and electricity.</a:t>
            </a:r>
          </a:p>
          <a:p>
            <a:pPr algn="l">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Agility and speed</a:t>
            </a:r>
            <a:r>
              <a:rPr lang="en-US" sz="2400" b="0" i="0" dirty="0">
                <a:solidFill>
                  <a:srgbClr val="000000"/>
                </a:solidFill>
                <a:effectLst/>
                <a:latin typeface="Times New Roman" panose="02020603050405020304" pitchFamily="18" charset="0"/>
                <a:cs typeface="Times New Roman" panose="02020603050405020304" pitchFamily="18" charset="0"/>
              </a:rPr>
              <a:t>—Spinning up a VM is relatively easy and quick and is much simpler than provisioning an entire new environment for your developers. </a:t>
            </a:r>
          </a:p>
          <a:p>
            <a:pPr algn="l">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Lowered downtime</a:t>
            </a:r>
            <a:r>
              <a:rPr lang="en-US" sz="2400" b="0" i="0" dirty="0">
                <a:solidFill>
                  <a:srgbClr val="000000"/>
                </a:solidFill>
                <a:effectLst/>
                <a:latin typeface="Times New Roman" panose="02020603050405020304" pitchFamily="18" charset="0"/>
                <a:cs typeface="Times New Roman" panose="02020603050405020304" pitchFamily="18" charset="0"/>
              </a:rPr>
              <a:t>—VMs are so portable and easy to move from one hypervisor to another on a different machine—this means that they are a great solution for backup, in the event the host goes down unexpectedly.</a:t>
            </a:r>
          </a:p>
          <a:p>
            <a:pPr algn="l">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Scalability</a:t>
            </a:r>
            <a:r>
              <a:rPr lang="en-US" sz="2400" b="0" i="0" dirty="0">
                <a:solidFill>
                  <a:srgbClr val="000000"/>
                </a:solidFill>
                <a:effectLst/>
                <a:latin typeface="Times New Roman" panose="02020603050405020304" pitchFamily="18" charset="0"/>
                <a:cs typeface="Times New Roman" panose="02020603050405020304" pitchFamily="18" charset="0"/>
              </a:rPr>
              <a:t>—VMs allow you to more easily scale your apps by adding more virtual servers to distribute the workload across multiple VMs. As a result you can increase the availability and performance of your apps.</a:t>
            </a:r>
          </a:p>
          <a:p>
            <a:pPr algn="l">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Security benefits</a:t>
            </a:r>
            <a:r>
              <a:rPr lang="en-US" sz="2400" b="0" i="0" dirty="0">
                <a:solidFill>
                  <a:srgbClr val="000000"/>
                </a:solidFill>
                <a:effectLst/>
                <a:latin typeface="Times New Roman" panose="02020603050405020304" pitchFamily="18" charset="0"/>
                <a:cs typeface="Times New Roman" panose="02020603050405020304" pitchFamily="18" charset="0"/>
              </a:rPr>
              <a:t>— Because virtual machines run in multiple operating systems, using a guest operating system on a VM allows you to run apps of questionable security and protects your host operating system. </a:t>
            </a:r>
          </a:p>
        </p:txBody>
      </p:sp>
    </p:spTree>
    <p:extLst>
      <p:ext uri="{BB962C8B-B14F-4D97-AF65-F5344CB8AC3E}">
        <p14:creationId xmlns:p14="http://schemas.microsoft.com/office/powerpoint/2010/main" val="2340803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8AF7F0-AF73-C368-067A-B26122EE5384}"/>
              </a:ext>
            </a:extLst>
          </p:cNvPr>
          <p:cNvSpPr txBox="1"/>
          <p:nvPr/>
        </p:nvSpPr>
        <p:spPr>
          <a:xfrm>
            <a:off x="4263965" y="104319"/>
            <a:ext cx="3664070" cy="523220"/>
          </a:xfrm>
          <a:prstGeom prst="rect">
            <a:avLst/>
          </a:prstGeom>
          <a:noFill/>
        </p:spPr>
        <p:txBody>
          <a:bodyPr wrap="square">
            <a:spAutoFit/>
          </a:bodyPr>
          <a:lstStyle/>
          <a:p>
            <a:pPr algn="l"/>
            <a:r>
              <a:rPr lang="en-IN" sz="2800" b="1" i="0" u="none" strike="noStrike" dirty="0">
                <a:effectLst/>
                <a:latin typeface="Times New Roman" panose="02020603050405020304" pitchFamily="18" charset="0"/>
                <a:cs typeface="Times New Roman" panose="02020603050405020304" pitchFamily="18" charset="0"/>
              </a:rPr>
              <a:t>What is a hypervisor?</a:t>
            </a:r>
            <a:endParaRPr lang="en-IN" sz="2800" b="1"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F75056D-79B6-3409-8DB5-99B764FFB077}"/>
              </a:ext>
            </a:extLst>
          </p:cNvPr>
          <p:cNvSpPr txBox="1"/>
          <p:nvPr/>
        </p:nvSpPr>
        <p:spPr>
          <a:xfrm>
            <a:off x="174685" y="1016811"/>
            <a:ext cx="11781526" cy="3785652"/>
          </a:xfrm>
          <a:prstGeom prst="rect">
            <a:avLst/>
          </a:prstGeom>
          <a:noFill/>
        </p:spPr>
        <p:txBody>
          <a:bodyPr wrap="square">
            <a:spAutoFit/>
          </a:bodyPr>
          <a:lstStyle/>
          <a:p>
            <a:pPr algn="just"/>
            <a:r>
              <a:rPr lang="en-US" sz="2400" b="0" i="0" dirty="0">
                <a:solidFill>
                  <a:srgbClr val="565656"/>
                </a:solidFill>
                <a:effectLst/>
                <a:latin typeface="Times New Roman" panose="02020603050405020304" pitchFamily="18" charset="0"/>
                <a:cs typeface="Times New Roman" panose="02020603050405020304" pitchFamily="18" charset="0"/>
              </a:rPr>
              <a:t>A</a:t>
            </a:r>
            <a:r>
              <a:rPr lang="en-US" sz="2400" b="1" i="0" dirty="0">
                <a:solidFill>
                  <a:srgbClr val="565656"/>
                </a:solidFill>
                <a:effectLst/>
                <a:latin typeface="Times New Roman" panose="02020603050405020304" pitchFamily="18" charset="0"/>
                <a:cs typeface="Times New Roman" panose="02020603050405020304" pitchFamily="18" charset="0"/>
              </a:rPr>
              <a:t> hypervisor</a:t>
            </a:r>
            <a:r>
              <a:rPr lang="en-US" sz="2400" b="0" i="0" dirty="0">
                <a:solidFill>
                  <a:srgbClr val="565656"/>
                </a:solidFill>
                <a:effectLst/>
                <a:latin typeface="Times New Roman" panose="02020603050405020304" pitchFamily="18" charset="0"/>
                <a:cs typeface="Times New Roman" panose="02020603050405020304" pitchFamily="18" charset="0"/>
              </a:rPr>
              <a:t>, also known as a virtual machine monitor or VMM, is software that creates and runs virtual machines (VMs). A hypervisor allows one host computer to support multiple guest VMs by virtually sharing its resources, such as memory and processing. </a:t>
            </a:r>
          </a:p>
          <a:p>
            <a:pPr algn="just"/>
            <a:endParaRPr lang="en-US" sz="2400" dirty="0">
              <a:solidFill>
                <a:srgbClr val="565656"/>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hypervisor treats resources—like CPU, memory, and storage—as a pool that can be easily reallocated between existing guests or to new virtual machines.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All hypervisors need some operating system-level components—such as a memory manager, process scheduler, input/output (I/O) stack, device drivers, security manager, a network stack, and more—to run VMs.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544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ypervisor - What is a Hypervisor and What is its Purpose? | Nutanix">
            <a:extLst>
              <a:ext uri="{FF2B5EF4-FFF2-40B4-BE49-F238E27FC236}">
                <a16:creationId xmlns:a16="http://schemas.microsoft.com/office/drawing/2014/main" id="{FD20D5B9-1B8B-63A9-EA2E-6FFE06C30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3" y="266700"/>
            <a:ext cx="11344275"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06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1.4. Hardware Virtualization Layer | Virtuozzo Hybrid Server 7 User's Guide">
            <a:extLst>
              <a:ext uri="{FF2B5EF4-FFF2-40B4-BE49-F238E27FC236}">
                <a16:creationId xmlns:a16="http://schemas.microsoft.com/office/drawing/2014/main" id="{728B26F5-2AB5-6AD7-9E0D-AE876C25E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756" y="310551"/>
            <a:ext cx="10772594" cy="6305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02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Different Types Of Virtualization In Cloud Computing – Explained">
            <a:extLst>
              <a:ext uri="{FF2B5EF4-FFF2-40B4-BE49-F238E27FC236}">
                <a16:creationId xmlns:a16="http://schemas.microsoft.com/office/drawing/2014/main" id="{081388C7-A39B-8D24-C5E8-99A1AD1A6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73" y="1088366"/>
            <a:ext cx="11142453" cy="55712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231EF7-7C1F-7E66-8045-74CD485D2F5F}"/>
              </a:ext>
            </a:extLst>
          </p:cNvPr>
          <p:cNvSpPr txBox="1"/>
          <p:nvPr/>
        </p:nvSpPr>
        <p:spPr>
          <a:xfrm>
            <a:off x="4268278" y="285475"/>
            <a:ext cx="3655443"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Types of Virtualization</a:t>
            </a:r>
          </a:p>
        </p:txBody>
      </p:sp>
    </p:spTree>
    <p:extLst>
      <p:ext uri="{BB962C8B-B14F-4D97-AF65-F5344CB8AC3E}">
        <p14:creationId xmlns:p14="http://schemas.microsoft.com/office/powerpoint/2010/main" val="309102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2FE7CF-33B2-3076-2F03-A8F7D86EB42D}"/>
              </a:ext>
            </a:extLst>
          </p:cNvPr>
          <p:cNvSpPr txBox="1"/>
          <p:nvPr/>
        </p:nvSpPr>
        <p:spPr>
          <a:xfrm>
            <a:off x="4401987" y="130198"/>
            <a:ext cx="3388025" cy="523220"/>
          </a:xfrm>
          <a:prstGeom prst="rect">
            <a:avLst/>
          </a:prstGeom>
          <a:noFill/>
        </p:spPr>
        <p:txBody>
          <a:bodyPr wrap="square">
            <a:spAutoFit/>
          </a:bodyPr>
          <a:lstStyle/>
          <a:p>
            <a:pPr algn="l"/>
            <a:r>
              <a:rPr lang="en-IN" sz="2800" b="1" i="0" dirty="0">
                <a:solidFill>
                  <a:srgbClr val="000000"/>
                </a:solidFill>
                <a:effectLst/>
                <a:latin typeface="Times New Roman" panose="02020603050405020304" pitchFamily="18" charset="0"/>
                <a:cs typeface="Times New Roman" panose="02020603050405020304" pitchFamily="18" charset="0"/>
              </a:rPr>
              <a:t>Server Virtualization</a:t>
            </a:r>
          </a:p>
        </p:txBody>
      </p:sp>
      <p:sp>
        <p:nvSpPr>
          <p:cNvPr id="5" name="TextBox 4">
            <a:extLst>
              <a:ext uri="{FF2B5EF4-FFF2-40B4-BE49-F238E27FC236}">
                <a16:creationId xmlns:a16="http://schemas.microsoft.com/office/drawing/2014/main" id="{0E7422B7-D173-E177-5D30-F51E961FB4A5}"/>
              </a:ext>
            </a:extLst>
          </p:cNvPr>
          <p:cNvSpPr txBox="1"/>
          <p:nvPr/>
        </p:nvSpPr>
        <p:spPr>
          <a:xfrm>
            <a:off x="260948" y="789188"/>
            <a:ext cx="11583119" cy="4524315"/>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Server virtualization refers to partitioning the resources of a server, which consist of hardware, software and networking resources, and distributing them over a network.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The partitions are instances of a powerful physical server lying in a remote location but acting like standalone servers. These partitions are also called virtual servers.</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Server virtualization allows for flexible scalability as, depending upon their need, users can request variable configurations of storage, computing power, RAM, </a:t>
            </a:r>
            <a:r>
              <a:rPr lang="en-US" sz="2400" b="0" i="0" dirty="0" err="1">
                <a:solidFill>
                  <a:srgbClr val="000000"/>
                </a:solidFill>
                <a:effectLst/>
                <a:latin typeface="Times New Roman" panose="02020603050405020304" pitchFamily="18" charset="0"/>
                <a:cs typeface="Times New Roman" panose="02020603050405020304" pitchFamily="18" charset="0"/>
              </a:rPr>
              <a:t>etc</a:t>
            </a:r>
            <a:r>
              <a:rPr lang="en-US" sz="2400" b="0" i="0" dirty="0">
                <a:solidFill>
                  <a:srgbClr val="000000"/>
                </a:solidFill>
                <a:effectLst/>
                <a:latin typeface="Times New Roman" panose="02020603050405020304" pitchFamily="18" charset="0"/>
                <a:cs typeface="Times New Roman" panose="02020603050405020304" pitchFamily="18" charset="0"/>
              </a:rPr>
              <a:t> from the physical server.</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Virtualizing a server comes in handy when users want to install different operating systems on a single assembly of computer components.</a:t>
            </a:r>
          </a:p>
        </p:txBody>
      </p:sp>
    </p:spTree>
    <p:extLst>
      <p:ext uri="{BB962C8B-B14F-4D97-AF65-F5344CB8AC3E}">
        <p14:creationId xmlns:p14="http://schemas.microsoft.com/office/powerpoint/2010/main" val="389641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62CC89-B2E4-0A6E-B52A-F3FFA158F5B3}"/>
              </a:ext>
            </a:extLst>
          </p:cNvPr>
          <p:cNvSpPr txBox="1"/>
          <p:nvPr/>
        </p:nvSpPr>
        <p:spPr>
          <a:xfrm>
            <a:off x="4289844" y="121572"/>
            <a:ext cx="3612311" cy="523220"/>
          </a:xfrm>
          <a:prstGeom prst="rect">
            <a:avLst/>
          </a:prstGeom>
          <a:noFill/>
        </p:spPr>
        <p:txBody>
          <a:bodyPr wrap="square">
            <a:spAutoFit/>
          </a:bodyPr>
          <a:lstStyle/>
          <a:p>
            <a:pPr algn="l"/>
            <a:r>
              <a:rPr lang="en-IN" sz="2800" b="1" i="0" dirty="0">
                <a:solidFill>
                  <a:srgbClr val="000000"/>
                </a:solidFill>
                <a:effectLst/>
                <a:latin typeface="Times New Roman" panose="02020603050405020304" pitchFamily="18" charset="0"/>
                <a:cs typeface="Times New Roman" panose="02020603050405020304" pitchFamily="18" charset="0"/>
              </a:rPr>
              <a:t>Storage Virtualization</a:t>
            </a:r>
          </a:p>
        </p:txBody>
      </p:sp>
      <p:sp>
        <p:nvSpPr>
          <p:cNvPr id="5" name="TextBox 4">
            <a:extLst>
              <a:ext uri="{FF2B5EF4-FFF2-40B4-BE49-F238E27FC236}">
                <a16:creationId xmlns:a16="http://schemas.microsoft.com/office/drawing/2014/main" id="{BC43D3B4-26A8-8BEC-F8D3-477FBB4E4B43}"/>
              </a:ext>
            </a:extLst>
          </p:cNvPr>
          <p:cNvSpPr txBox="1"/>
          <p:nvPr/>
        </p:nvSpPr>
        <p:spPr>
          <a:xfrm>
            <a:off x="243696" y="947324"/>
            <a:ext cx="11634878" cy="1569660"/>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Storage virtualization works by gathering and merging multiple physical storage arrays and presenting them as a single storage location to the user over a network. It is employed typically by organizations and individuals looking to scale and maintain their systems’ storage without investing in physical storage devices.</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3209DBF-F236-3DE0-75E7-0E47F3D361BB}"/>
              </a:ext>
            </a:extLst>
          </p:cNvPr>
          <p:cNvPicPr>
            <a:picLocks noChangeAspect="1"/>
          </p:cNvPicPr>
          <p:nvPr/>
        </p:nvPicPr>
        <p:blipFill>
          <a:blip r:embed="rId2"/>
          <a:stretch>
            <a:fillRect/>
          </a:stretch>
        </p:blipFill>
        <p:spPr>
          <a:xfrm>
            <a:off x="446123" y="2749003"/>
            <a:ext cx="3781179" cy="3987425"/>
          </a:xfrm>
          <a:prstGeom prst="rect">
            <a:avLst/>
          </a:prstGeom>
        </p:spPr>
      </p:pic>
      <p:sp>
        <p:nvSpPr>
          <p:cNvPr id="9" name="TextBox 8">
            <a:extLst>
              <a:ext uri="{FF2B5EF4-FFF2-40B4-BE49-F238E27FC236}">
                <a16:creationId xmlns:a16="http://schemas.microsoft.com/office/drawing/2014/main" id="{32B879BA-6667-A774-7BE0-1C90C5FD1A5C}"/>
              </a:ext>
            </a:extLst>
          </p:cNvPr>
          <p:cNvSpPr txBox="1"/>
          <p:nvPr/>
        </p:nvSpPr>
        <p:spPr>
          <a:xfrm>
            <a:off x="4418881" y="3588553"/>
            <a:ext cx="7459693" cy="2308324"/>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Virtualized storage is visible as a single storage entity (such as a 2 TB disk drive) on a user’s system. </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But, behind the scenes, storage virtualization is pooling several storage locations to offer 2 TB worth of storage to the user.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49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54EE1F-90E2-9F68-F2A0-C95513559F4F}"/>
              </a:ext>
            </a:extLst>
          </p:cNvPr>
          <p:cNvSpPr txBox="1"/>
          <p:nvPr/>
        </p:nvSpPr>
        <p:spPr>
          <a:xfrm>
            <a:off x="2141867" y="156077"/>
            <a:ext cx="7908266" cy="523220"/>
          </a:xfrm>
          <a:prstGeom prst="rect">
            <a:avLst/>
          </a:prstGeom>
          <a:noFill/>
        </p:spPr>
        <p:txBody>
          <a:bodyPr wrap="square">
            <a:spAutoFit/>
          </a:bodyPr>
          <a:lstStyle/>
          <a:p>
            <a:pPr algn="l"/>
            <a:r>
              <a:rPr lang="en-US" sz="2800" b="1" i="0" dirty="0">
                <a:solidFill>
                  <a:srgbClr val="323232"/>
                </a:solidFill>
                <a:effectLst/>
                <a:latin typeface="Times New Roman" panose="02020603050405020304" pitchFamily="18" charset="0"/>
                <a:cs typeface="Times New Roman" panose="02020603050405020304" pitchFamily="18" charset="0"/>
              </a:rPr>
              <a:t>RAID (redundant array of independent disks)</a:t>
            </a:r>
          </a:p>
        </p:txBody>
      </p:sp>
      <p:sp>
        <p:nvSpPr>
          <p:cNvPr id="5" name="TextBox 4">
            <a:extLst>
              <a:ext uri="{FF2B5EF4-FFF2-40B4-BE49-F238E27FC236}">
                <a16:creationId xmlns:a16="http://schemas.microsoft.com/office/drawing/2014/main" id="{8A506D23-C230-5CF1-7634-17A1E6A496ED}"/>
              </a:ext>
            </a:extLst>
          </p:cNvPr>
          <p:cNvSpPr txBox="1"/>
          <p:nvPr/>
        </p:nvSpPr>
        <p:spPr>
          <a:xfrm>
            <a:off x="183310" y="1000036"/>
            <a:ext cx="11824659" cy="3416320"/>
          </a:xfrm>
          <a:prstGeom prst="rect">
            <a:avLst/>
          </a:prstGeom>
          <a:noFill/>
        </p:spPr>
        <p:txBody>
          <a:bodyPr wrap="square">
            <a:spAutoFit/>
          </a:bodyPr>
          <a:lstStyle/>
          <a:p>
            <a:pPr algn="just"/>
            <a:r>
              <a:rPr lang="en-US" sz="2400" b="0" i="0" dirty="0">
                <a:solidFill>
                  <a:srgbClr val="666666"/>
                </a:solidFill>
                <a:effectLst/>
                <a:latin typeface="Times New Roman" panose="02020603050405020304" pitchFamily="18" charset="0"/>
                <a:cs typeface="Times New Roman" panose="02020603050405020304" pitchFamily="18" charset="0"/>
              </a:rPr>
              <a:t>RAID (redundant array of independent disks) is a way of storing the same data in different places on multiple hard disks or solid-state drives (SSDs) to protect data in the case of a drive failure</a:t>
            </a:r>
          </a:p>
          <a:p>
            <a:pPr algn="just"/>
            <a:endParaRPr lang="en-US" sz="2400" dirty="0">
              <a:solidFill>
                <a:srgbClr val="666666"/>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RAID works by placing data on multiple disks and allowing input/output (I/O) operations to overlap in a balanced way, improving performance. Because using multiple disks increases the mean time between failures, storing data redundantly also increases fault tolerance.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RAID arrays appear to the operating system (OS) as a single logical drive.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5563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B6096E-C59B-5E58-C70E-9D2120F5E87C}"/>
              </a:ext>
            </a:extLst>
          </p:cNvPr>
          <p:cNvSpPr txBox="1"/>
          <p:nvPr/>
        </p:nvSpPr>
        <p:spPr>
          <a:xfrm>
            <a:off x="4225146" y="190583"/>
            <a:ext cx="3741708" cy="523220"/>
          </a:xfrm>
          <a:prstGeom prst="rect">
            <a:avLst/>
          </a:prstGeom>
          <a:noFill/>
        </p:spPr>
        <p:txBody>
          <a:bodyPr wrap="square">
            <a:spAutoFit/>
          </a:bodyPr>
          <a:lstStyle/>
          <a:p>
            <a:pPr algn="l"/>
            <a:r>
              <a:rPr lang="en-IN" sz="2800" b="1" i="0" dirty="0">
                <a:solidFill>
                  <a:srgbClr val="000000"/>
                </a:solidFill>
                <a:effectLst/>
                <a:latin typeface="Times New Roman" panose="02020603050405020304" pitchFamily="18" charset="0"/>
                <a:cs typeface="Times New Roman" panose="02020603050405020304" pitchFamily="18" charset="0"/>
              </a:rPr>
              <a:t>Network Virtualization</a:t>
            </a:r>
          </a:p>
        </p:txBody>
      </p:sp>
      <p:sp>
        <p:nvSpPr>
          <p:cNvPr id="5" name="TextBox 4">
            <a:extLst>
              <a:ext uri="{FF2B5EF4-FFF2-40B4-BE49-F238E27FC236}">
                <a16:creationId xmlns:a16="http://schemas.microsoft.com/office/drawing/2014/main" id="{595C0E59-75D7-7538-D0CC-34FF6AFFE539}"/>
              </a:ext>
            </a:extLst>
          </p:cNvPr>
          <p:cNvSpPr txBox="1"/>
          <p:nvPr/>
        </p:nvSpPr>
        <p:spPr>
          <a:xfrm>
            <a:off x="260948" y="969865"/>
            <a:ext cx="11703889" cy="4524315"/>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Network virtualization refers to combining all the components of networks and administering them using only software. These network components include all the underlying hardware and software of a network with their respective functionalities.</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Virtualizing a network takes away its dependency on the software embedded in its underlying hardware, converting it into a virtual network.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Network virtualization is typically used to interconnect virtual machines, group several networks into one or subdivide the resources of a network.</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Virtualizing networks enforces greater flexibility among the pooled networks and allows for better networking at reduced costs.</a:t>
            </a:r>
          </a:p>
        </p:txBody>
      </p:sp>
    </p:spTree>
    <p:extLst>
      <p:ext uri="{BB962C8B-B14F-4D97-AF65-F5344CB8AC3E}">
        <p14:creationId xmlns:p14="http://schemas.microsoft.com/office/powerpoint/2010/main" val="4016289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AF805E-696B-F968-3100-BA942D4C3EC6}"/>
              </a:ext>
            </a:extLst>
          </p:cNvPr>
          <p:cNvSpPr txBox="1"/>
          <p:nvPr/>
        </p:nvSpPr>
        <p:spPr>
          <a:xfrm>
            <a:off x="4000859" y="138824"/>
            <a:ext cx="4190281" cy="523220"/>
          </a:xfrm>
          <a:prstGeom prst="rect">
            <a:avLst/>
          </a:prstGeom>
          <a:noFill/>
        </p:spPr>
        <p:txBody>
          <a:bodyPr wrap="square">
            <a:spAutoFit/>
          </a:bodyPr>
          <a:lstStyle/>
          <a:p>
            <a:pPr algn="l"/>
            <a:r>
              <a:rPr lang="en-IN" sz="2800" b="1" i="0" dirty="0">
                <a:solidFill>
                  <a:srgbClr val="000000"/>
                </a:solidFill>
                <a:effectLst/>
                <a:latin typeface="Times New Roman" panose="02020603050405020304" pitchFamily="18" charset="0"/>
                <a:cs typeface="Times New Roman" panose="02020603050405020304" pitchFamily="18" charset="0"/>
              </a:rPr>
              <a:t>Application Virtualization</a:t>
            </a:r>
          </a:p>
        </p:txBody>
      </p:sp>
      <p:sp>
        <p:nvSpPr>
          <p:cNvPr id="5" name="TextBox 4">
            <a:extLst>
              <a:ext uri="{FF2B5EF4-FFF2-40B4-BE49-F238E27FC236}">
                <a16:creationId xmlns:a16="http://schemas.microsoft.com/office/drawing/2014/main" id="{9A9C3815-7C9A-C0F1-E85F-9C6AD7DBB253}"/>
              </a:ext>
            </a:extLst>
          </p:cNvPr>
          <p:cNvSpPr txBox="1"/>
          <p:nvPr/>
        </p:nvSpPr>
        <p:spPr>
          <a:xfrm>
            <a:off x="209190" y="748916"/>
            <a:ext cx="11798780" cy="1569660"/>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Application virtualization refers to the process of deploying a computer application over a network (the cloud). The deployed application is installed locally on a server, and when a user requests it, an instance of the application is displayed to them. The user can then engage with that application as if it was installed on their system.</a:t>
            </a: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35E4C98-AD4C-F593-0F9E-8618F5EFD663}"/>
              </a:ext>
            </a:extLst>
          </p:cNvPr>
          <p:cNvPicPr>
            <a:picLocks noChangeAspect="1"/>
          </p:cNvPicPr>
          <p:nvPr/>
        </p:nvPicPr>
        <p:blipFill>
          <a:blip r:embed="rId2"/>
          <a:stretch>
            <a:fillRect/>
          </a:stretch>
        </p:blipFill>
        <p:spPr>
          <a:xfrm>
            <a:off x="1482830" y="2430912"/>
            <a:ext cx="9226340" cy="4217025"/>
          </a:xfrm>
          <a:prstGeom prst="rect">
            <a:avLst/>
          </a:prstGeom>
        </p:spPr>
      </p:pic>
    </p:spTree>
    <p:extLst>
      <p:ext uri="{BB962C8B-B14F-4D97-AF65-F5344CB8AC3E}">
        <p14:creationId xmlns:p14="http://schemas.microsoft.com/office/powerpoint/2010/main" val="1698357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D06BCD-FE11-360E-C89A-F1A2E55F0B6A}"/>
              </a:ext>
            </a:extLst>
          </p:cNvPr>
          <p:cNvSpPr txBox="1"/>
          <p:nvPr/>
        </p:nvSpPr>
        <p:spPr>
          <a:xfrm>
            <a:off x="4259652" y="225089"/>
            <a:ext cx="3672696" cy="523220"/>
          </a:xfrm>
          <a:prstGeom prst="rect">
            <a:avLst/>
          </a:prstGeom>
          <a:noFill/>
        </p:spPr>
        <p:txBody>
          <a:bodyPr wrap="square">
            <a:spAutoFit/>
          </a:bodyPr>
          <a:lstStyle/>
          <a:p>
            <a:pPr algn="l"/>
            <a:r>
              <a:rPr lang="en-IN" sz="2800" b="1" i="0" dirty="0">
                <a:solidFill>
                  <a:srgbClr val="000000"/>
                </a:solidFill>
                <a:effectLst/>
                <a:latin typeface="Times New Roman" panose="02020603050405020304" pitchFamily="18" charset="0"/>
                <a:cs typeface="Times New Roman" panose="02020603050405020304" pitchFamily="18" charset="0"/>
              </a:rPr>
              <a:t>Desktop Virtualization</a:t>
            </a:r>
          </a:p>
        </p:txBody>
      </p:sp>
      <p:sp>
        <p:nvSpPr>
          <p:cNvPr id="5" name="TextBox 4">
            <a:extLst>
              <a:ext uri="{FF2B5EF4-FFF2-40B4-BE49-F238E27FC236}">
                <a16:creationId xmlns:a16="http://schemas.microsoft.com/office/drawing/2014/main" id="{8833D57F-EA98-C5E4-C4D4-0CFB047E3355}"/>
              </a:ext>
            </a:extLst>
          </p:cNvPr>
          <p:cNvSpPr txBox="1"/>
          <p:nvPr/>
        </p:nvSpPr>
        <p:spPr>
          <a:xfrm>
            <a:off x="174684" y="880220"/>
            <a:ext cx="11833285" cy="830997"/>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Desktop virtualization is similar to application virtualization, but the apps are now replaced with whole desktop environments</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930BD01-5DE6-2E86-B7CA-D4A6A63B0D2B}"/>
              </a:ext>
            </a:extLst>
          </p:cNvPr>
          <p:cNvPicPr>
            <a:picLocks noChangeAspect="1"/>
          </p:cNvPicPr>
          <p:nvPr/>
        </p:nvPicPr>
        <p:blipFill>
          <a:blip r:embed="rId2"/>
          <a:stretch>
            <a:fillRect/>
          </a:stretch>
        </p:blipFill>
        <p:spPr>
          <a:xfrm>
            <a:off x="3130610" y="1930400"/>
            <a:ext cx="5930779" cy="4702511"/>
          </a:xfrm>
          <a:prstGeom prst="rect">
            <a:avLst/>
          </a:prstGeom>
        </p:spPr>
      </p:pic>
    </p:spTree>
    <p:extLst>
      <p:ext uri="{BB962C8B-B14F-4D97-AF65-F5344CB8AC3E}">
        <p14:creationId xmlns:p14="http://schemas.microsoft.com/office/powerpoint/2010/main" val="4173035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175DB3-3077-5F38-3613-523AE6A4D20F}"/>
              </a:ext>
            </a:extLst>
          </p:cNvPr>
          <p:cNvSpPr txBox="1"/>
          <p:nvPr/>
        </p:nvSpPr>
        <p:spPr>
          <a:xfrm>
            <a:off x="2931184" y="164704"/>
            <a:ext cx="632963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Implementation Levels of Virtualization</a:t>
            </a:r>
          </a:p>
        </p:txBody>
      </p:sp>
      <p:pic>
        <p:nvPicPr>
          <p:cNvPr id="9" name="Picture 8">
            <a:extLst>
              <a:ext uri="{FF2B5EF4-FFF2-40B4-BE49-F238E27FC236}">
                <a16:creationId xmlns:a16="http://schemas.microsoft.com/office/drawing/2014/main" id="{936E2881-B313-BF52-2D77-8600231F61DC}"/>
              </a:ext>
            </a:extLst>
          </p:cNvPr>
          <p:cNvPicPr>
            <a:picLocks noChangeAspect="1"/>
          </p:cNvPicPr>
          <p:nvPr/>
        </p:nvPicPr>
        <p:blipFill>
          <a:blip r:embed="rId2"/>
          <a:stretch>
            <a:fillRect/>
          </a:stretch>
        </p:blipFill>
        <p:spPr>
          <a:xfrm>
            <a:off x="2722363" y="926332"/>
            <a:ext cx="6747273" cy="5931668"/>
          </a:xfrm>
          <a:prstGeom prst="rect">
            <a:avLst/>
          </a:prstGeom>
        </p:spPr>
      </p:pic>
    </p:spTree>
    <p:extLst>
      <p:ext uri="{BB962C8B-B14F-4D97-AF65-F5344CB8AC3E}">
        <p14:creationId xmlns:p14="http://schemas.microsoft.com/office/powerpoint/2010/main" val="522102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F3FF14-9FD9-A1F0-595D-BB11A6692889}"/>
              </a:ext>
            </a:extLst>
          </p:cNvPr>
          <p:cNvSpPr txBox="1"/>
          <p:nvPr/>
        </p:nvSpPr>
        <p:spPr>
          <a:xfrm>
            <a:off x="2853546" y="164704"/>
            <a:ext cx="6484908" cy="523220"/>
          </a:xfrm>
          <a:prstGeom prst="rect">
            <a:avLst/>
          </a:prstGeom>
          <a:noFill/>
        </p:spPr>
        <p:txBody>
          <a:bodyPr wrap="square">
            <a:spAutoFit/>
          </a:bodyPr>
          <a:lstStyle/>
          <a:p>
            <a:pPr algn="l"/>
            <a:r>
              <a:rPr lang="en-US" sz="2800" b="1" i="0" dirty="0">
                <a:solidFill>
                  <a:schemeClr val="accent1"/>
                </a:solidFill>
                <a:effectLst/>
                <a:latin typeface="Times New Roman" panose="02020603050405020304" pitchFamily="18" charset="0"/>
                <a:cs typeface="Times New Roman" panose="02020603050405020304" pitchFamily="18" charset="0"/>
              </a:rPr>
              <a:t>Instruction Set Architecture Level (ISA)</a:t>
            </a:r>
            <a:endParaRPr lang="en-US" sz="2800" b="0" i="0" dirty="0">
              <a:solidFill>
                <a:schemeClr val="accent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0174E69-0AD1-8E47-DBC5-3A78AC992F97}"/>
              </a:ext>
            </a:extLst>
          </p:cNvPr>
          <p:cNvSpPr txBox="1"/>
          <p:nvPr/>
        </p:nvSpPr>
        <p:spPr>
          <a:xfrm>
            <a:off x="200563" y="918583"/>
            <a:ext cx="11790153" cy="4154984"/>
          </a:xfrm>
          <a:prstGeom prst="rect">
            <a:avLst/>
          </a:prstGeom>
          <a:noFill/>
        </p:spPr>
        <p:txBody>
          <a:bodyPr wrap="square">
            <a:spAutoFit/>
          </a:bodyPr>
          <a:lstStyle/>
          <a:p>
            <a:pPr algn="just"/>
            <a:r>
              <a:rPr lang="en-US" sz="2400" b="0" i="0" dirty="0">
                <a:solidFill>
                  <a:srgbClr val="707070"/>
                </a:solidFill>
                <a:effectLst/>
                <a:latin typeface="Times New Roman" panose="02020603050405020304" pitchFamily="18" charset="0"/>
                <a:cs typeface="Times New Roman" panose="02020603050405020304" pitchFamily="18" charset="0"/>
              </a:rPr>
              <a:t>ISA virtualization can work through ISA emulation. This is used to run many legacy codes written for a different hardware configuration.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These codes run on any virtual machine using the ISA. With this, a binary code that originally needed some additional layers to run is now capable of running on the x86 machines.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It can also be tweaked to run on the x64 machine. With ISA, it is possible to make the virtual machine hardware agnostic.</a:t>
            </a:r>
          </a:p>
          <a:p>
            <a:pPr algn="just"/>
            <a:endParaRPr lang="en-US" sz="2400" b="0" i="0" dirty="0">
              <a:solidFill>
                <a:srgbClr val="707070"/>
              </a:solidFill>
              <a:effectLst/>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For the basic emulation, an interpreter is needed, which interprets the source code and then converts it into a hardware format that can be read. This then allows processing. </a:t>
            </a:r>
          </a:p>
        </p:txBody>
      </p:sp>
    </p:spTree>
    <p:extLst>
      <p:ext uri="{BB962C8B-B14F-4D97-AF65-F5344CB8AC3E}">
        <p14:creationId xmlns:p14="http://schemas.microsoft.com/office/powerpoint/2010/main" val="2118921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DAD8D-7F09-5A0D-868B-288315C6498E}"/>
              </a:ext>
            </a:extLst>
          </p:cNvPr>
          <p:cNvSpPr txBox="1"/>
          <p:nvPr/>
        </p:nvSpPr>
        <p:spPr>
          <a:xfrm>
            <a:off x="3239758" y="190584"/>
            <a:ext cx="5712484" cy="523220"/>
          </a:xfrm>
          <a:prstGeom prst="rect">
            <a:avLst/>
          </a:prstGeom>
          <a:noFill/>
        </p:spPr>
        <p:txBody>
          <a:bodyPr wrap="square">
            <a:spAutoFit/>
          </a:bodyPr>
          <a:lstStyle/>
          <a:p>
            <a:pPr algn="l"/>
            <a:r>
              <a:rPr lang="en-US" sz="2800" b="1" i="0" dirty="0">
                <a:solidFill>
                  <a:schemeClr val="accent1"/>
                </a:solidFill>
                <a:effectLst/>
                <a:latin typeface="Times New Roman" panose="02020603050405020304" pitchFamily="18" charset="0"/>
                <a:cs typeface="Times New Roman" panose="02020603050405020304" pitchFamily="18" charset="0"/>
              </a:rPr>
              <a:t>Hardware Abstraction Level (HAL)</a:t>
            </a:r>
            <a:endParaRPr lang="en-US" sz="2800" b="0" i="0" dirty="0">
              <a:solidFill>
                <a:schemeClr val="accent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46A616D-790B-DE44-9A14-0A3068BF1E0B}"/>
              </a:ext>
            </a:extLst>
          </p:cNvPr>
          <p:cNvSpPr txBox="1"/>
          <p:nvPr/>
        </p:nvSpPr>
        <p:spPr>
          <a:xfrm>
            <a:off x="162374" y="1084870"/>
            <a:ext cx="11867251" cy="3416320"/>
          </a:xfrm>
          <a:prstGeom prst="rect">
            <a:avLst/>
          </a:prstGeom>
          <a:noFill/>
        </p:spPr>
        <p:txBody>
          <a:bodyPr wrap="square">
            <a:spAutoFit/>
          </a:bodyPr>
          <a:lstStyle/>
          <a:p>
            <a:pPr algn="just"/>
            <a:r>
              <a:rPr lang="en-US" sz="2400" b="0" i="0" dirty="0">
                <a:solidFill>
                  <a:srgbClr val="707070"/>
                </a:solidFill>
                <a:effectLst/>
                <a:latin typeface="Times New Roman" panose="02020603050405020304" pitchFamily="18" charset="0"/>
                <a:cs typeface="Times New Roman" panose="02020603050405020304" pitchFamily="18" charset="0"/>
              </a:rPr>
              <a:t>True to its name HAL lets the virtualization perform at the level of the hardware.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This makes use of a hypervisor which is used for functioning.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The virtual machine is formed at this level, which manages the hardware using the virtualization process.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It allows the virtualization of each of the hardware components, which could be the input-output device, the memory, the processor, etc.</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243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AA027B-254C-E03C-5925-884CDA4639C2}"/>
              </a:ext>
            </a:extLst>
          </p:cNvPr>
          <p:cNvSpPr txBox="1"/>
          <p:nvPr/>
        </p:nvSpPr>
        <p:spPr>
          <a:xfrm>
            <a:off x="4122977" y="173331"/>
            <a:ext cx="3946046" cy="523220"/>
          </a:xfrm>
          <a:prstGeom prst="rect">
            <a:avLst/>
          </a:prstGeom>
          <a:noFill/>
        </p:spPr>
        <p:txBody>
          <a:bodyPr wrap="square">
            <a:spAutoFit/>
          </a:bodyPr>
          <a:lstStyle/>
          <a:p>
            <a:pPr algn="l"/>
            <a:r>
              <a:rPr lang="en-US" sz="2800" b="1" i="0" dirty="0">
                <a:solidFill>
                  <a:schemeClr val="accent1"/>
                </a:solidFill>
                <a:effectLst/>
                <a:latin typeface="Times New Roman" panose="02020603050405020304" pitchFamily="18" charset="0"/>
                <a:cs typeface="Times New Roman" panose="02020603050405020304" pitchFamily="18" charset="0"/>
              </a:rPr>
              <a:t>Operating System Level</a:t>
            </a:r>
            <a:endParaRPr lang="en-US" sz="2800" b="0" i="0" dirty="0">
              <a:solidFill>
                <a:schemeClr val="accent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89D905-D215-6EA0-2CA8-68426339B7AD}"/>
              </a:ext>
            </a:extLst>
          </p:cNvPr>
          <p:cNvSpPr txBox="1"/>
          <p:nvPr/>
        </p:nvSpPr>
        <p:spPr>
          <a:xfrm>
            <a:off x="226803" y="892401"/>
            <a:ext cx="11738394" cy="4524315"/>
          </a:xfrm>
          <a:prstGeom prst="rect">
            <a:avLst/>
          </a:prstGeom>
          <a:noFill/>
        </p:spPr>
        <p:txBody>
          <a:bodyPr wrap="square">
            <a:spAutoFit/>
          </a:bodyPr>
          <a:lstStyle/>
          <a:p>
            <a:pPr algn="just"/>
            <a:r>
              <a:rPr lang="en-US" sz="2400" b="0" i="0" dirty="0">
                <a:solidFill>
                  <a:srgbClr val="707070"/>
                </a:solidFill>
                <a:effectLst/>
                <a:latin typeface="Times New Roman" panose="02020603050405020304" pitchFamily="18" charset="0"/>
                <a:cs typeface="Times New Roman" panose="02020603050405020304" pitchFamily="18" charset="0"/>
              </a:rPr>
              <a:t>At the level of the operating system, the virtualization model is capable of creating a layer that is abstract between the operating system and the application.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This is an isolated container on the operating system and the physical server, which uses the software and hardware. Each of these then functions in the form of a server.</a:t>
            </a:r>
          </a:p>
          <a:p>
            <a:pPr algn="just"/>
            <a:endParaRPr lang="en-US" sz="2400" b="0" i="0" dirty="0">
              <a:solidFill>
                <a:srgbClr val="707070"/>
              </a:solidFill>
              <a:effectLst/>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When there are several users and no one wants to share the hardware, then this is where the virtualization level is used.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Every user will get his virtual environment using a dedicated virtual hardware resource.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In this way, there is no question of any conflict.</a:t>
            </a:r>
          </a:p>
        </p:txBody>
      </p:sp>
    </p:spTree>
    <p:extLst>
      <p:ext uri="{BB962C8B-B14F-4D97-AF65-F5344CB8AC3E}">
        <p14:creationId xmlns:p14="http://schemas.microsoft.com/office/powerpoint/2010/main" val="2904831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C2063D-3D8B-B6EB-9384-EF697685604D}"/>
              </a:ext>
            </a:extLst>
          </p:cNvPr>
          <p:cNvSpPr txBox="1"/>
          <p:nvPr/>
        </p:nvSpPr>
        <p:spPr>
          <a:xfrm>
            <a:off x="4929547" y="181958"/>
            <a:ext cx="2332906" cy="523220"/>
          </a:xfrm>
          <a:prstGeom prst="rect">
            <a:avLst/>
          </a:prstGeom>
          <a:noFill/>
        </p:spPr>
        <p:txBody>
          <a:bodyPr wrap="square">
            <a:spAutoFit/>
          </a:bodyPr>
          <a:lstStyle/>
          <a:p>
            <a:pPr algn="l"/>
            <a:r>
              <a:rPr lang="en-US" sz="2800" b="1" i="0" dirty="0">
                <a:solidFill>
                  <a:schemeClr val="accent1"/>
                </a:solidFill>
                <a:effectLst/>
                <a:latin typeface="Times New Roman" panose="02020603050405020304" pitchFamily="18" charset="0"/>
                <a:cs typeface="Times New Roman" panose="02020603050405020304" pitchFamily="18" charset="0"/>
              </a:rPr>
              <a:t>Library Level</a:t>
            </a:r>
            <a:endParaRPr lang="en-US" sz="2800" b="0" i="0" dirty="0">
              <a:solidFill>
                <a:schemeClr val="accent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09F83E2-8183-C484-CD5D-F80AA9F9671F}"/>
              </a:ext>
            </a:extLst>
          </p:cNvPr>
          <p:cNvSpPr txBox="1"/>
          <p:nvPr/>
        </p:nvSpPr>
        <p:spPr>
          <a:xfrm>
            <a:off x="226442" y="999082"/>
            <a:ext cx="11695263" cy="3046988"/>
          </a:xfrm>
          <a:prstGeom prst="rect">
            <a:avLst/>
          </a:prstGeom>
          <a:noFill/>
        </p:spPr>
        <p:txBody>
          <a:bodyPr wrap="square">
            <a:spAutoFit/>
          </a:bodyPr>
          <a:lstStyle/>
          <a:p>
            <a:pPr algn="just"/>
            <a:r>
              <a:rPr lang="en-US" sz="2400" b="0" i="0" dirty="0">
                <a:solidFill>
                  <a:srgbClr val="707070"/>
                </a:solidFill>
                <a:effectLst/>
                <a:latin typeface="Times New Roman" panose="02020603050405020304" pitchFamily="18" charset="0"/>
                <a:cs typeface="Times New Roman" panose="02020603050405020304" pitchFamily="18" charset="0"/>
              </a:rPr>
              <a:t>The operating system is cumbersome, and this is when the applications use the API from the libraries at a user level.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These APIs are documented well, and this is why the library virtualization level is preferred in these scenarios.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API hooks make it possible as it controls the link of communication from the application to the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3569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2FC3F7-F7A1-B1C5-32A1-BAB278A89F11}"/>
              </a:ext>
            </a:extLst>
          </p:cNvPr>
          <p:cNvSpPr txBox="1"/>
          <p:nvPr/>
        </p:nvSpPr>
        <p:spPr>
          <a:xfrm>
            <a:off x="4747044" y="87066"/>
            <a:ext cx="2697911" cy="523220"/>
          </a:xfrm>
          <a:prstGeom prst="rect">
            <a:avLst/>
          </a:prstGeom>
          <a:noFill/>
        </p:spPr>
        <p:txBody>
          <a:bodyPr wrap="square">
            <a:spAutoFit/>
          </a:bodyPr>
          <a:lstStyle/>
          <a:p>
            <a:pPr algn="l"/>
            <a:r>
              <a:rPr lang="en-IN" sz="2800" b="1" i="0" dirty="0">
                <a:solidFill>
                  <a:srgbClr val="FF0000"/>
                </a:solidFill>
                <a:effectLst/>
                <a:latin typeface="Times New Roman" panose="02020603050405020304" pitchFamily="18" charset="0"/>
                <a:cs typeface="Times New Roman" panose="02020603050405020304" pitchFamily="18" charset="0"/>
              </a:rPr>
              <a:t>What is an API?</a:t>
            </a:r>
          </a:p>
        </p:txBody>
      </p:sp>
      <p:sp>
        <p:nvSpPr>
          <p:cNvPr id="5" name="TextBox 4">
            <a:extLst>
              <a:ext uri="{FF2B5EF4-FFF2-40B4-BE49-F238E27FC236}">
                <a16:creationId xmlns:a16="http://schemas.microsoft.com/office/drawing/2014/main" id="{83F8ACB8-E1B6-63B7-F494-BEED3DECB061}"/>
              </a:ext>
            </a:extLst>
          </p:cNvPr>
          <p:cNvSpPr txBox="1"/>
          <p:nvPr/>
        </p:nvSpPr>
        <p:spPr>
          <a:xfrm>
            <a:off x="191937" y="886939"/>
            <a:ext cx="11807405" cy="5632311"/>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APIs are mechanisms that enable two software components to communicate with each other using a set of definitions and protocols.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solidFill>
                  <a:srgbClr val="333333"/>
                </a:solidFill>
                <a:latin typeface="Times New Roman" panose="02020603050405020304" pitchFamily="18" charset="0"/>
                <a:cs typeface="Times New Roman" panose="02020603050405020304" pitchFamily="18" charset="0"/>
              </a:rPr>
              <a:t>In the context of APIs, the word Application refers to any software with a distinct function. Interface can be thought of as a contract of service between two applications.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solidFill>
                  <a:srgbClr val="333333"/>
                </a:solidFill>
                <a:latin typeface="Times New Roman" panose="02020603050405020304" pitchFamily="18" charset="0"/>
                <a:cs typeface="Times New Roman" panose="02020603050405020304" pitchFamily="18" charset="0"/>
              </a:rPr>
              <a:t>This contract defines how the two communicate with each other using requests and responses.</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1" u="sng" dirty="0">
                <a:solidFill>
                  <a:srgbClr val="333333"/>
                </a:solidFill>
                <a:latin typeface="Times New Roman" panose="02020603050405020304" pitchFamily="18" charset="0"/>
                <a:cs typeface="Times New Roman" panose="02020603050405020304" pitchFamily="18" charset="0"/>
              </a:rPr>
              <a:t>API Hooks</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solidFill>
                  <a:srgbClr val="333333"/>
                </a:solidFill>
                <a:latin typeface="Times New Roman" panose="02020603050405020304" pitchFamily="18" charset="0"/>
                <a:cs typeface="Times New Roman" panose="02020603050405020304" pitchFamily="18" charset="0"/>
              </a:rPr>
              <a:t>API hooking is a vital part of how many operating systems work, and it enables developers to extend software functionality and to debug it.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solidFill>
                  <a:srgbClr val="333333"/>
                </a:solidFill>
                <a:latin typeface="Times New Roman" panose="02020603050405020304" pitchFamily="18" charset="0"/>
                <a:cs typeface="Times New Roman" panose="02020603050405020304" pitchFamily="18" charset="0"/>
              </a:rPr>
              <a:t>Obviously, the ability to alter the code flow of APIs, and to intercept system messages and events has many legitimate uses</a:t>
            </a:r>
          </a:p>
        </p:txBody>
      </p:sp>
    </p:spTree>
    <p:extLst>
      <p:ext uri="{BB962C8B-B14F-4D97-AF65-F5344CB8AC3E}">
        <p14:creationId xmlns:p14="http://schemas.microsoft.com/office/powerpoint/2010/main" val="3163022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75B017-B6DF-82E9-7662-2E78134086C3}"/>
              </a:ext>
            </a:extLst>
          </p:cNvPr>
          <p:cNvSpPr txBox="1"/>
          <p:nvPr/>
        </p:nvSpPr>
        <p:spPr>
          <a:xfrm>
            <a:off x="4627622" y="216463"/>
            <a:ext cx="2936755" cy="523220"/>
          </a:xfrm>
          <a:prstGeom prst="rect">
            <a:avLst/>
          </a:prstGeom>
          <a:noFill/>
        </p:spPr>
        <p:txBody>
          <a:bodyPr wrap="square">
            <a:spAutoFit/>
          </a:bodyPr>
          <a:lstStyle/>
          <a:p>
            <a:pPr algn="l"/>
            <a:r>
              <a:rPr lang="en-US" sz="2800" b="1" i="0" dirty="0">
                <a:solidFill>
                  <a:schemeClr val="accent1"/>
                </a:solidFill>
                <a:effectLst/>
                <a:latin typeface="Times New Roman" panose="02020603050405020304" pitchFamily="18" charset="0"/>
                <a:cs typeface="Times New Roman" panose="02020603050405020304" pitchFamily="18" charset="0"/>
              </a:rPr>
              <a:t>Application Level</a:t>
            </a:r>
            <a:endParaRPr lang="en-US" sz="2800" b="0" i="0" dirty="0">
              <a:solidFill>
                <a:schemeClr val="accent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56AD334-3EB4-7C49-D0C8-A09B3E22F413}"/>
              </a:ext>
            </a:extLst>
          </p:cNvPr>
          <p:cNvSpPr txBox="1"/>
          <p:nvPr/>
        </p:nvSpPr>
        <p:spPr>
          <a:xfrm>
            <a:off x="209191" y="1091112"/>
            <a:ext cx="11772900" cy="4524315"/>
          </a:xfrm>
          <a:prstGeom prst="rect">
            <a:avLst/>
          </a:prstGeom>
          <a:noFill/>
        </p:spPr>
        <p:txBody>
          <a:bodyPr wrap="square">
            <a:spAutoFit/>
          </a:bodyPr>
          <a:lstStyle/>
          <a:p>
            <a:pPr algn="just"/>
            <a:r>
              <a:rPr lang="en-US" sz="2400" b="0" i="0" dirty="0">
                <a:solidFill>
                  <a:srgbClr val="707070"/>
                </a:solidFill>
                <a:effectLst/>
                <a:latin typeface="Times New Roman" panose="02020603050405020304" pitchFamily="18" charset="0"/>
                <a:cs typeface="Times New Roman" panose="02020603050405020304" pitchFamily="18" charset="0"/>
              </a:rPr>
              <a:t>The application-level virtualization is used </a:t>
            </a:r>
            <a:r>
              <a:rPr lang="en-US" sz="2400" b="1" i="1" dirty="0">
                <a:solidFill>
                  <a:srgbClr val="707070"/>
                </a:solidFill>
                <a:effectLst/>
                <a:latin typeface="Times New Roman" panose="02020603050405020304" pitchFamily="18" charset="0"/>
                <a:cs typeface="Times New Roman" panose="02020603050405020304" pitchFamily="18" charset="0"/>
              </a:rPr>
              <a:t>when there is a desire to virtualize only one application</a:t>
            </a:r>
            <a:r>
              <a:rPr lang="en-US" sz="2400" b="0" i="0" dirty="0">
                <a:solidFill>
                  <a:srgbClr val="707070"/>
                </a:solidFill>
                <a:effectLst/>
                <a:latin typeface="Times New Roman" panose="02020603050405020304" pitchFamily="18" charset="0"/>
                <a:cs typeface="Times New Roman" panose="02020603050405020304" pitchFamily="18" charset="0"/>
              </a:rPr>
              <a:t> and is the last of the implementation levels of virtualization in Cloud Computing.</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 </a:t>
            </a:r>
            <a:r>
              <a:rPr lang="en-US" sz="2400" b="1" i="1" dirty="0">
                <a:solidFill>
                  <a:srgbClr val="707070"/>
                </a:solidFill>
                <a:effectLst/>
                <a:latin typeface="Times New Roman" panose="02020603050405020304" pitchFamily="18" charset="0"/>
                <a:cs typeface="Times New Roman" panose="02020603050405020304" pitchFamily="18" charset="0"/>
              </a:rPr>
              <a:t>One does not need to virtualize the entire environment of the platform</a:t>
            </a:r>
            <a:r>
              <a:rPr lang="en-US" sz="2400" b="0" i="0" dirty="0">
                <a:solidFill>
                  <a:srgbClr val="707070"/>
                </a:solidFill>
                <a:effectLst/>
                <a:latin typeface="Times New Roman" panose="02020603050405020304" pitchFamily="18" charset="0"/>
                <a:cs typeface="Times New Roman" panose="02020603050405020304" pitchFamily="18" charset="0"/>
              </a:rPr>
              <a:t>. </a:t>
            </a:r>
          </a:p>
          <a:p>
            <a:pPr algn="just"/>
            <a:endParaRPr lang="en-US" sz="2400" b="0" i="0" dirty="0">
              <a:solidFill>
                <a:srgbClr val="707070"/>
              </a:solidFill>
              <a:effectLst/>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This is generally used when you run virtual machines that use high-level languages. </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The application will sit above the virtualization layer, which in turn sits on the application program.</a:t>
            </a:r>
          </a:p>
          <a:p>
            <a:pPr algn="just"/>
            <a:endParaRPr lang="en-US" sz="2400" dirty="0">
              <a:solidFill>
                <a:srgbClr val="707070"/>
              </a:solidFill>
              <a:latin typeface="Times New Roman" panose="02020603050405020304" pitchFamily="18" charset="0"/>
              <a:cs typeface="Times New Roman" panose="02020603050405020304" pitchFamily="18" charset="0"/>
            </a:endParaRPr>
          </a:p>
          <a:p>
            <a:pPr algn="just"/>
            <a:r>
              <a:rPr lang="en-US" sz="2400" b="0" i="0" dirty="0">
                <a:solidFill>
                  <a:srgbClr val="707070"/>
                </a:solidFill>
                <a:effectLst/>
                <a:latin typeface="Times New Roman" panose="02020603050405020304" pitchFamily="18" charset="0"/>
                <a:cs typeface="Times New Roman" panose="02020603050405020304" pitchFamily="18" charset="0"/>
              </a:rPr>
              <a:t>It lets the high-level language programs compiled to be used at the application level of the virtual machine run seamlessly. </a:t>
            </a:r>
          </a:p>
        </p:txBody>
      </p:sp>
    </p:spTree>
    <p:extLst>
      <p:ext uri="{BB962C8B-B14F-4D97-AF65-F5344CB8AC3E}">
        <p14:creationId xmlns:p14="http://schemas.microsoft.com/office/powerpoint/2010/main" val="2961742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823FBC-4ACD-3697-01F4-E9E542702E6B}"/>
              </a:ext>
            </a:extLst>
          </p:cNvPr>
          <p:cNvPicPr>
            <a:picLocks noChangeAspect="1"/>
          </p:cNvPicPr>
          <p:nvPr/>
        </p:nvPicPr>
        <p:blipFill>
          <a:blip r:embed="rId2"/>
          <a:stretch>
            <a:fillRect/>
          </a:stretch>
        </p:blipFill>
        <p:spPr>
          <a:xfrm>
            <a:off x="0" y="1576207"/>
            <a:ext cx="12192000" cy="3705586"/>
          </a:xfrm>
          <a:prstGeom prst="rect">
            <a:avLst/>
          </a:prstGeom>
        </p:spPr>
      </p:pic>
    </p:spTree>
    <p:extLst>
      <p:ext uri="{BB962C8B-B14F-4D97-AF65-F5344CB8AC3E}">
        <p14:creationId xmlns:p14="http://schemas.microsoft.com/office/powerpoint/2010/main" val="2515649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E1377D-9C2A-454F-B21A-1981E9DB4570}"/>
              </a:ext>
            </a:extLst>
          </p:cNvPr>
          <p:cNvSpPr txBox="1"/>
          <p:nvPr/>
        </p:nvSpPr>
        <p:spPr>
          <a:xfrm>
            <a:off x="713117" y="121095"/>
            <a:ext cx="10765766"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VIRTUALIZATION STRUCTURES/TOOLS AND MECHANISMS</a:t>
            </a:r>
            <a:endParaRPr lang="en-IN"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0DBBCCF-BDC8-030C-9882-72469903E667}"/>
              </a:ext>
            </a:extLst>
          </p:cNvPr>
          <p:cNvSpPr>
            <a:spLocks noChangeArrowheads="1"/>
          </p:cNvSpPr>
          <p:nvPr/>
        </p:nvSpPr>
        <p:spPr bwMode="auto">
          <a:xfrm>
            <a:off x="221672" y="735262"/>
            <a:ext cx="1157316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 general, there are three typical classes of VM architecture.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hlinkClick r:id="rId2" action="ppaction://hlinksldjump"/>
              </a:rPr>
              <a:t>Figure</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showed the architectures of a machine before and after virtualization.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Before virtualization, the operating system manages the hardware.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After virtualization, a virtualization layer is inserted between the hardware and the operating system.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 such a case, the virtualization layer is responsible for converting portions of the real hardware into virtual hardware. Therefore, different operating systems such as Linux and Windows can run on the same physical machine, simultaneously.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Depending on the position of the virtualization layer, </a:t>
            </a:r>
            <a:r>
              <a:rPr kumimoji="0" lang="en-US" altLang="en-US" sz="2400" b="1" i="1"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there are several classes of VM architectures, namely the hypervisor architecture, para-virtualization, and host-based virtualization. </a:t>
            </a:r>
          </a:p>
        </p:txBody>
      </p:sp>
    </p:spTree>
    <p:extLst>
      <p:ext uri="{BB962C8B-B14F-4D97-AF65-F5344CB8AC3E}">
        <p14:creationId xmlns:p14="http://schemas.microsoft.com/office/powerpoint/2010/main" val="3972327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F74B00-E887-253C-0A1F-2750E87D4F77}"/>
              </a:ext>
            </a:extLst>
          </p:cNvPr>
          <p:cNvSpPr txBox="1"/>
          <p:nvPr/>
        </p:nvSpPr>
        <p:spPr>
          <a:xfrm>
            <a:off x="3435829" y="207836"/>
            <a:ext cx="5320342"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Hypervisor and Xen Architecture</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7C1E2C9-ADB9-CD7A-A307-E59D0A4822D9}"/>
              </a:ext>
            </a:extLst>
          </p:cNvPr>
          <p:cNvSpPr txBox="1"/>
          <p:nvPr/>
        </p:nvSpPr>
        <p:spPr>
          <a:xfrm>
            <a:off x="226442" y="981353"/>
            <a:ext cx="11824659" cy="2677656"/>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The hypervisor supports hardware-level virtualization on bare metal devices like CPU, memory, disk and network interfaces.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hypervisor software sits directly between the physical hardware and its OS. This virtualization layer is referred to as either the VMM or the hypervisor.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hypervisor provides </a:t>
            </a:r>
            <a:r>
              <a:rPr lang="en-US" sz="2400" b="0" i="0" dirty="0" err="1">
                <a:solidFill>
                  <a:srgbClr val="333333"/>
                </a:solidFill>
                <a:effectLst/>
                <a:latin typeface="Times New Roman" panose="02020603050405020304" pitchFamily="18" charset="0"/>
                <a:cs typeface="Times New Roman" panose="02020603050405020304" pitchFamily="18" charset="0"/>
              </a:rPr>
              <a:t>hypercalls</a:t>
            </a:r>
            <a:r>
              <a:rPr lang="en-US" sz="2400" b="0" i="0" dirty="0">
                <a:solidFill>
                  <a:srgbClr val="333333"/>
                </a:solidFill>
                <a:effectLst/>
                <a:latin typeface="Times New Roman" panose="02020603050405020304" pitchFamily="18" charset="0"/>
                <a:cs typeface="Times New Roman" panose="02020603050405020304" pitchFamily="18" charset="0"/>
              </a:rPr>
              <a:t> for the guest OSes and applications.</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D1F1F9E-0A4E-B08B-176D-B7FDA1D412D5}"/>
              </a:ext>
            </a:extLst>
          </p:cNvPr>
          <p:cNvSpPr txBox="1"/>
          <p:nvPr/>
        </p:nvSpPr>
        <p:spPr>
          <a:xfrm>
            <a:off x="183671" y="4313055"/>
            <a:ext cx="11824658" cy="830997"/>
          </a:xfrm>
          <a:prstGeom prst="rect">
            <a:avLst/>
          </a:prstGeom>
          <a:noFill/>
        </p:spPr>
        <p:txBody>
          <a:bodyPr wrap="square">
            <a:spAutoFit/>
          </a:bodyPr>
          <a:lstStyle/>
          <a:p>
            <a:pPr algn="just"/>
            <a:r>
              <a:rPr lang="en-US" sz="2400" b="1" i="1" dirty="0">
                <a:solidFill>
                  <a:srgbClr val="00B050"/>
                </a:solidFill>
                <a:effectLst/>
                <a:latin typeface="Times New Roman" panose="02020603050405020304" pitchFamily="18" charset="0"/>
              </a:rPr>
              <a:t>Essentially, a hypervisor must be able to convert physical devices into virtual resources dedicated for the deployed VM to use.</a:t>
            </a:r>
            <a:endParaRPr lang="en-IN" sz="2400" b="1" i="1" dirty="0">
              <a:solidFill>
                <a:srgbClr val="00B050"/>
              </a:solidFill>
            </a:endParaRPr>
          </a:p>
        </p:txBody>
      </p:sp>
    </p:spTree>
    <p:extLst>
      <p:ext uri="{BB962C8B-B14F-4D97-AF65-F5344CB8AC3E}">
        <p14:creationId xmlns:p14="http://schemas.microsoft.com/office/powerpoint/2010/main" val="3886538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2E820B-563C-0022-E263-FFF61B732680}"/>
              </a:ext>
            </a:extLst>
          </p:cNvPr>
          <p:cNvSpPr txBox="1"/>
          <p:nvPr/>
        </p:nvSpPr>
        <p:spPr>
          <a:xfrm>
            <a:off x="4332976" y="147451"/>
            <a:ext cx="3526047"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The Xen Architecture</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9157A60-074D-7FCF-77B3-BF7D318AF7E9}"/>
              </a:ext>
            </a:extLst>
          </p:cNvPr>
          <p:cNvSpPr txBox="1"/>
          <p:nvPr/>
        </p:nvSpPr>
        <p:spPr>
          <a:xfrm>
            <a:off x="355839" y="919537"/>
            <a:ext cx="11669384" cy="4893647"/>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Xen is an open source hypervisor program developed by Cambridge University.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Xen is a micro-kernel hypervisor, which separates the policy from the mechanism. The Xen hypervisor implements all the mechanisms, leaving the policy to be handled by Domain 0.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Xen does not include any device drivers natively. It just provides a mechanism by which a guest OS can have direct access to the physical devices.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As a result, the size of the Xen hypervisor is kept rather small. Xen provides a virtual environment located between the hardware and the OS. </a:t>
            </a:r>
          </a:p>
          <a:p>
            <a:pPr algn="just"/>
            <a:endParaRPr lang="en-US" sz="2400" dirty="0">
              <a:solidFill>
                <a:srgbClr val="333333"/>
              </a:solidFill>
              <a:latin typeface="Times New Roman" panose="02020603050405020304" pitchFamily="18" charset="0"/>
            </a:endParaRPr>
          </a:p>
          <a:p>
            <a:pPr algn="just"/>
            <a:endParaRPr lang="en-US" sz="2400" dirty="0">
              <a:solidFill>
                <a:srgbClr val="333333"/>
              </a:solidFill>
              <a:latin typeface="Times New Roman" panose="02020603050405020304" pitchFamily="18" charset="0"/>
            </a:endParaRPr>
          </a:p>
          <a:p>
            <a:pPr algn="just"/>
            <a:r>
              <a:rPr lang="en-US" sz="2400" b="1" i="1" dirty="0">
                <a:solidFill>
                  <a:srgbClr val="002060"/>
                </a:solidFill>
                <a:latin typeface="Times New Roman" panose="02020603050405020304" pitchFamily="18" charset="0"/>
                <a:cs typeface="Times New Roman" panose="02020603050405020304" pitchFamily="18" charset="0"/>
              </a:rPr>
              <a:t>The core components of a Xen system are the hypervisor, kernel, and applications. </a:t>
            </a:r>
            <a:endParaRPr lang="en-IN" sz="2400" b="1" i="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2768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CA3F0E-8FA9-C57B-D5EB-1BA794905468}"/>
              </a:ext>
            </a:extLst>
          </p:cNvPr>
          <p:cNvPicPr>
            <a:picLocks noChangeAspect="1"/>
          </p:cNvPicPr>
          <p:nvPr/>
        </p:nvPicPr>
        <p:blipFill>
          <a:blip r:embed="rId2"/>
          <a:stretch>
            <a:fillRect/>
          </a:stretch>
        </p:blipFill>
        <p:spPr>
          <a:xfrm>
            <a:off x="517585" y="1573819"/>
            <a:ext cx="10734814" cy="4343093"/>
          </a:xfrm>
          <a:prstGeom prst="rect">
            <a:avLst/>
          </a:prstGeom>
        </p:spPr>
      </p:pic>
      <p:sp>
        <p:nvSpPr>
          <p:cNvPr id="4" name="TextBox 3">
            <a:extLst>
              <a:ext uri="{FF2B5EF4-FFF2-40B4-BE49-F238E27FC236}">
                <a16:creationId xmlns:a16="http://schemas.microsoft.com/office/drawing/2014/main" id="{D64BB311-D3EE-C3C5-71F9-A9DDE9DF8269}"/>
              </a:ext>
            </a:extLst>
          </p:cNvPr>
          <p:cNvSpPr txBox="1"/>
          <p:nvPr/>
        </p:nvSpPr>
        <p:spPr>
          <a:xfrm>
            <a:off x="4332976" y="147451"/>
            <a:ext cx="3526047"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The Xen Architecture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6614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CA3F0E-8FA9-C57B-D5EB-1BA794905468}"/>
              </a:ext>
            </a:extLst>
          </p:cNvPr>
          <p:cNvPicPr>
            <a:picLocks noChangeAspect="1"/>
          </p:cNvPicPr>
          <p:nvPr/>
        </p:nvPicPr>
        <p:blipFill>
          <a:blip r:embed="rId2"/>
          <a:stretch>
            <a:fillRect/>
          </a:stretch>
        </p:blipFill>
        <p:spPr>
          <a:xfrm>
            <a:off x="330001" y="1211510"/>
            <a:ext cx="5765999" cy="2332809"/>
          </a:xfrm>
          <a:prstGeom prst="rect">
            <a:avLst/>
          </a:prstGeom>
        </p:spPr>
      </p:pic>
      <p:sp>
        <p:nvSpPr>
          <p:cNvPr id="4" name="TextBox 3">
            <a:extLst>
              <a:ext uri="{FF2B5EF4-FFF2-40B4-BE49-F238E27FC236}">
                <a16:creationId xmlns:a16="http://schemas.microsoft.com/office/drawing/2014/main" id="{D64BB311-D3EE-C3C5-71F9-A9DDE9DF8269}"/>
              </a:ext>
            </a:extLst>
          </p:cNvPr>
          <p:cNvSpPr txBox="1"/>
          <p:nvPr/>
        </p:nvSpPr>
        <p:spPr>
          <a:xfrm>
            <a:off x="4332976" y="147451"/>
            <a:ext cx="3526047"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The Xen Architecture</a:t>
            </a:r>
            <a:endParaRPr lang="en-IN"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F9D3DCF-5B8F-4AF8-6840-52B7D516B0C4}"/>
              </a:ext>
            </a:extLst>
          </p:cNvPr>
          <p:cNvSpPr txBox="1"/>
          <p:nvPr/>
        </p:nvSpPr>
        <p:spPr>
          <a:xfrm>
            <a:off x="6095999" y="1345092"/>
            <a:ext cx="5911971" cy="230832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The organization of the three components is important. Like other virtualization systems, many guest OSes can run on top of the hypervisor. However, not all guest OSes are created equal, and one in particular controls the others. </a:t>
            </a:r>
            <a:endParaRPr lang="en-IN" sz="2400" dirty="0"/>
          </a:p>
        </p:txBody>
      </p:sp>
      <p:sp>
        <p:nvSpPr>
          <p:cNvPr id="9" name="TextBox 8">
            <a:extLst>
              <a:ext uri="{FF2B5EF4-FFF2-40B4-BE49-F238E27FC236}">
                <a16:creationId xmlns:a16="http://schemas.microsoft.com/office/drawing/2014/main" id="{171ED3D3-C4D0-1154-F49A-DE25328D839A}"/>
              </a:ext>
            </a:extLst>
          </p:cNvPr>
          <p:cNvSpPr txBox="1"/>
          <p:nvPr/>
        </p:nvSpPr>
        <p:spPr>
          <a:xfrm>
            <a:off x="330001" y="4085158"/>
            <a:ext cx="11617584" cy="230832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The guest OS, which has control ability, is called Domain 0, and the others are called Domain U. Domain 0 is a privileged guest OS of Xen. </a:t>
            </a:r>
          </a:p>
          <a:p>
            <a:pPr algn="just"/>
            <a:r>
              <a:rPr lang="en-US" sz="2400" b="0" i="0" dirty="0">
                <a:solidFill>
                  <a:srgbClr val="333333"/>
                </a:solidFill>
                <a:effectLst/>
                <a:latin typeface="Times New Roman" panose="02020603050405020304" pitchFamily="18" charset="0"/>
              </a:rPr>
              <a:t>It is first loaded when Xen boots without any file system drivers being available. </a:t>
            </a:r>
            <a:r>
              <a:rPr lang="en-US" sz="2400" b="1" i="1" dirty="0">
                <a:solidFill>
                  <a:srgbClr val="333333"/>
                </a:solidFill>
                <a:effectLst/>
                <a:latin typeface="Times New Roman" panose="02020603050405020304" pitchFamily="18" charset="0"/>
              </a:rPr>
              <a:t>Domain 0 is designed to access hardware directly and manage devices.</a:t>
            </a:r>
            <a:r>
              <a:rPr lang="en-US" sz="2400" b="0" i="0" dirty="0">
                <a:solidFill>
                  <a:srgbClr val="333333"/>
                </a:solidFill>
                <a:effectLst/>
                <a:latin typeface="Times New Roman" panose="02020603050405020304" pitchFamily="18" charset="0"/>
              </a:rPr>
              <a:t> Therefore, one of the responsibilities of Domain 0 is to allocate and map hardware resources for the guest domains (the Domain U domains).</a:t>
            </a:r>
            <a:endParaRPr lang="en-IN" sz="2400" dirty="0"/>
          </a:p>
        </p:txBody>
      </p:sp>
    </p:spTree>
    <p:extLst>
      <p:ext uri="{BB962C8B-B14F-4D97-AF65-F5344CB8AC3E}">
        <p14:creationId xmlns:p14="http://schemas.microsoft.com/office/powerpoint/2010/main" val="3091307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619A9B-54D1-F757-55D7-35F02D5FC459}"/>
              </a:ext>
            </a:extLst>
          </p:cNvPr>
          <p:cNvSpPr txBox="1"/>
          <p:nvPr/>
        </p:nvSpPr>
        <p:spPr>
          <a:xfrm>
            <a:off x="3048719" y="233715"/>
            <a:ext cx="6094562" cy="461665"/>
          </a:xfrm>
          <a:prstGeom prst="rect">
            <a:avLst/>
          </a:prstGeom>
          <a:noFill/>
        </p:spPr>
        <p:txBody>
          <a:bodyPr wrap="square">
            <a:spAutoFit/>
          </a:bodyPr>
          <a:lstStyle/>
          <a:p>
            <a:r>
              <a:rPr lang="en-US" sz="2400" b="1" i="0" dirty="0">
                <a:solidFill>
                  <a:srgbClr val="000000"/>
                </a:solidFill>
                <a:effectLst/>
                <a:latin typeface="Times New Roman" panose="02020603050405020304" pitchFamily="18" charset="0"/>
                <a:cs typeface="Times New Roman" panose="02020603050405020304" pitchFamily="18" charset="0"/>
              </a:rPr>
              <a:t>Binary Translation with Full Virtualization</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B764452-9264-C78B-7558-623A75870135}"/>
              </a:ext>
            </a:extLst>
          </p:cNvPr>
          <p:cNvSpPr txBox="1"/>
          <p:nvPr/>
        </p:nvSpPr>
        <p:spPr>
          <a:xfrm>
            <a:off x="226443" y="982176"/>
            <a:ext cx="11764274" cy="3785652"/>
          </a:xfrm>
          <a:prstGeom prst="rect">
            <a:avLst/>
          </a:prstGeom>
          <a:noFill/>
        </p:spPr>
        <p:txBody>
          <a:bodyPr wrap="square">
            <a:spAutoFit/>
          </a:bodyPr>
          <a:lstStyle/>
          <a:p>
            <a:pPr algn="just"/>
            <a:r>
              <a:rPr lang="en-US" sz="2400" b="1" i="1" dirty="0">
                <a:solidFill>
                  <a:srgbClr val="333333"/>
                </a:solidFill>
                <a:effectLst/>
                <a:latin typeface="Times New Roman" panose="02020603050405020304" pitchFamily="18" charset="0"/>
                <a:cs typeface="Times New Roman" panose="02020603050405020304" pitchFamily="18" charset="0"/>
              </a:rPr>
              <a:t>Depending on implementation technologies, hardware virtualization can be classified into two categories: full virtualization and host-based virtualization.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Full virtualization does not need to modify the host OS. It relies on binary translation to trap and to virtualize the execution of certain sensitive, nonvirtualizable instructions. </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guest OSes and their applications consist of noncritical and critical instructions.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 a host-based system, both a host OS and a guest OS are used. </a:t>
            </a:r>
            <a:r>
              <a:rPr lang="en-US" sz="2400" b="1" i="1" dirty="0">
                <a:solidFill>
                  <a:schemeClr val="accent2">
                    <a:lumMod val="75000"/>
                  </a:schemeClr>
                </a:solidFill>
                <a:effectLst/>
                <a:latin typeface="Times New Roman" panose="02020603050405020304" pitchFamily="18" charset="0"/>
                <a:cs typeface="Times New Roman" panose="02020603050405020304" pitchFamily="18" charset="0"/>
              </a:rPr>
              <a:t>A virtualization software layer is built between the host OS and guest OS</a:t>
            </a:r>
            <a:endParaRPr lang="en-IN" sz="2400" b="1" i="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12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C09C8-A337-4FCD-7152-905204D18DFB}"/>
              </a:ext>
            </a:extLst>
          </p:cNvPr>
          <p:cNvSpPr txBox="1"/>
          <p:nvPr/>
        </p:nvSpPr>
        <p:spPr>
          <a:xfrm>
            <a:off x="4571640" y="130198"/>
            <a:ext cx="3048719"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Full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5076F-07B2-6E00-06D5-5AF0A52381EB}"/>
              </a:ext>
            </a:extLst>
          </p:cNvPr>
          <p:cNvSpPr txBox="1"/>
          <p:nvPr/>
        </p:nvSpPr>
        <p:spPr>
          <a:xfrm>
            <a:off x="286828" y="966007"/>
            <a:ext cx="11686636" cy="1569660"/>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With full virtualization, noncritical instructions run on the hardware directly while critical instructions are discovered and replaced with traps into the VMM to be emulated by software</a:t>
            </a:r>
          </a:p>
          <a:p>
            <a:pPr algn="just"/>
            <a:endParaRPr lang="en-US" sz="2400" dirty="0">
              <a:solidFill>
                <a:srgbClr val="333333"/>
              </a:solidFill>
              <a:latin typeface="Times New Roman" panose="02020603050405020304" pitchFamily="18" charset="0"/>
            </a:endParaRPr>
          </a:p>
          <a:p>
            <a:pPr algn="just"/>
            <a:r>
              <a:rPr lang="en-US" sz="2400" b="1" dirty="0">
                <a:solidFill>
                  <a:srgbClr val="FF0000"/>
                </a:solidFill>
                <a:latin typeface="Times New Roman" panose="02020603050405020304" pitchFamily="18" charset="0"/>
                <a:cs typeface="Times New Roman" panose="02020603050405020304" pitchFamily="18" charset="0"/>
              </a:rPr>
              <a:t>Why are only critical instructions trapped into the VMM? </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DA1FD0-F0FC-51FC-3ECF-C56D96AA585A}"/>
              </a:ext>
            </a:extLst>
          </p:cNvPr>
          <p:cNvSpPr txBox="1"/>
          <p:nvPr/>
        </p:nvSpPr>
        <p:spPr>
          <a:xfrm>
            <a:off x="286828" y="2785227"/>
            <a:ext cx="11686635" cy="267765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is because binary translation can incur a large performance overhead.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Noncritical instructions do not control hardware or threaten the security of the system, but critical instructions do.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Therefore, running noncritical instructions on hardware not only can promote efficiency, but also can ensure system security.</a:t>
            </a:r>
            <a:endParaRPr lang="en-IN" sz="2400" dirty="0"/>
          </a:p>
        </p:txBody>
      </p:sp>
    </p:spTree>
    <p:extLst>
      <p:ext uri="{BB962C8B-B14F-4D97-AF65-F5344CB8AC3E}">
        <p14:creationId xmlns:p14="http://schemas.microsoft.com/office/powerpoint/2010/main" val="322312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0C5FA7-440F-7F63-4988-E0521FB5E799}"/>
              </a:ext>
            </a:extLst>
          </p:cNvPr>
          <p:cNvSpPr txBox="1"/>
          <p:nvPr/>
        </p:nvSpPr>
        <p:spPr>
          <a:xfrm>
            <a:off x="3944787" y="164704"/>
            <a:ext cx="4302425"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Host-Based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40865F5-030F-15E6-839C-5F226F6B80E7}"/>
              </a:ext>
            </a:extLst>
          </p:cNvPr>
          <p:cNvSpPr txBox="1"/>
          <p:nvPr/>
        </p:nvSpPr>
        <p:spPr>
          <a:xfrm>
            <a:off x="217817" y="956904"/>
            <a:ext cx="11807406" cy="4893647"/>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An alternative VM architecture is to install a virtualization layer on top of the host OS. This host OS is still responsible for managing the hardware. The guest OSes are installed and run on top of the virtualization layer.</a:t>
            </a:r>
          </a:p>
          <a:p>
            <a:pPr algn="just"/>
            <a:endParaRPr lang="en-US" sz="2400" dirty="0">
              <a:solidFill>
                <a:srgbClr val="333333"/>
              </a:solidFill>
              <a:latin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First, the user can install this VM architecture without modifying the host OS.  The virtualizing software can rely on the host OS to provide device drivers and other low-level services.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will simplify the VM design and ease its deployment.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Second, the host-based approach appeals to many host machine configurations.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Compared to the hypervisor/VMM architecture, the performance of the host-based architecture may also be low.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533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0306B6-D999-0936-25A0-2943AC1D995C}"/>
              </a:ext>
            </a:extLst>
          </p:cNvPr>
          <p:cNvPicPr>
            <a:picLocks noChangeAspect="1"/>
          </p:cNvPicPr>
          <p:nvPr/>
        </p:nvPicPr>
        <p:blipFill>
          <a:blip r:embed="rId2"/>
          <a:stretch>
            <a:fillRect/>
          </a:stretch>
        </p:blipFill>
        <p:spPr>
          <a:xfrm>
            <a:off x="2304621" y="442022"/>
            <a:ext cx="7199597" cy="6309760"/>
          </a:xfrm>
          <a:prstGeom prst="rect">
            <a:avLst/>
          </a:prstGeom>
        </p:spPr>
      </p:pic>
    </p:spTree>
    <p:extLst>
      <p:ext uri="{BB962C8B-B14F-4D97-AF65-F5344CB8AC3E}">
        <p14:creationId xmlns:p14="http://schemas.microsoft.com/office/powerpoint/2010/main" val="3720778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984BA3-774F-F36A-2EBB-6DB6154C09AC}"/>
              </a:ext>
            </a:extLst>
          </p:cNvPr>
          <p:cNvSpPr txBox="1"/>
          <p:nvPr/>
        </p:nvSpPr>
        <p:spPr>
          <a:xfrm>
            <a:off x="2637886" y="164704"/>
            <a:ext cx="6916228"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Para-Virtualization with Compiler Support</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E8B02A0-487A-BABD-E760-9A7A8AF0803B}"/>
              </a:ext>
            </a:extLst>
          </p:cNvPr>
          <p:cNvSpPr txBox="1"/>
          <p:nvPr/>
        </p:nvSpPr>
        <p:spPr>
          <a:xfrm>
            <a:off x="390345" y="1117945"/>
            <a:ext cx="11600372" cy="415498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Para-virtualization needs to modify the guest operating systems.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 para-virtualized VM provides special APIs requiring substantial OS modifications in user applications. Performance degradation is a critical issue of a virtualized system.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No one wants to use a VM if it is much slower than using a physical machine.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virtualization layer can be inserted at different positions in a machine soft-ware stack.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However, para-virtualization attempts to reduce the virtualization overhead, and thus improve performance by modifying only the guest OS kernel.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9798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A62251-6066-ABD7-4DFC-5D43E6E9C50D}"/>
              </a:ext>
            </a:extLst>
          </p:cNvPr>
          <p:cNvPicPr>
            <a:picLocks noChangeAspect="1"/>
          </p:cNvPicPr>
          <p:nvPr/>
        </p:nvPicPr>
        <p:blipFill>
          <a:blip r:embed="rId2"/>
          <a:stretch>
            <a:fillRect/>
          </a:stretch>
        </p:blipFill>
        <p:spPr>
          <a:xfrm>
            <a:off x="0" y="254363"/>
            <a:ext cx="12192000" cy="6349273"/>
          </a:xfrm>
          <a:prstGeom prst="rect">
            <a:avLst/>
          </a:prstGeom>
        </p:spPr>
      </p:pic>
      <p:sp>
        <p:nvSpPr>
          <p:cNvPr id="6" name="TextBox 5">
            <a:extLst>
              <a:ext uri="{FF2B5EF4-FFF2-40B4-BE49-F238E27FC236}">
                <a16:creationId xmlns:a16="http://schemas.microsoft.com/office/drawing/2014/main" id="{EAB4ACA7-FA5B-254A-F08E-5D838A3CF544}"/>
              </a:ext>
            </a:extLst>
          </p:cNvPr>
          <p:cNvSpPr txBox="1"/>
          <p:nvPr/>
        </p:nvSpPr>
        <p:spPr>
          <a:xfrm>
            <a:off x="2355011" y="6396335"/>
            <a:ext cx="885179"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Fig a.</a:t>
            </a:r>
          </a:p>
        </p:txBody>
      </p:sp>
      <p:sp>
        <p:nvSpPr>
          <p:cNvPr id="7" name="TextBox 6">
            <a:extLst>
              <a:ext uri="{FF2B5EF4-FFF2-40B4-BE49-F238E27FC236}">
                <a16:creationId xmlns:a16="http://schemas.microsoft.com/office/drawing/2014/main" id="{FE0AA2E0-8E12-FEA8-0AB8-BC744A127B47}"/>
              </a:ext>
            </a:extLst>
          </p:cNvPr>
          <p:cNvSpPr txBox="1"/>
          <p:nvPr/>
        </p:nvSpPr>
        <p:spPr>
          <a:xfrm>
            <a:off x="8580408" y="6372803"/>
            <a:ext cx="902811"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Fig b.</a:t>
            </a:r>
          </a:p>
        </p:txBody>
      </p:sp>
    </p:spTree>
    <p:extLst>
      <p:ext uri="{BB962C8B-B14F-4D97-AF65-F5344CB8AC3E}">
        <p14:creationId xmlns:p14="http://schemas.microsoft.com/office/powerpoint/2010/main" val="3777121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32545D-41AD-5AC8-3879-3101F2C79A75}"/>
              </a:ext>
            </a:extLst>
          </p:cNvPr>
          <p:cNvSpPr txBox="1"/>
          <p:nvPr/>
        </p:nvSpPr>
        <p:spPr>
          <a:xfrm>
            <a:off x="235069" y="982176"/>
            <a:ext cx="11790153" cy="415498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Figure a illustrates the concept of a </a:t>
            </a:r>
            <a:r>
              <a:rPr lang="en-US" sz="2400" b="0" i="0" dirty="0" err="1">
                <a:solidFill>
                  <a:srgbClr val="333333"/>
                </a:solidFill>
                <a:effectLst/>
                <a:latin typeface="Times New Roman" panose="02020603050405020304" pitchFamily="18" charset="0"/>
              </a:rPr>
              <a:t>paravirtualized</a:t>
            </a:r>
            <a:r>
              <a:rPr lang="en-US" sz="2400" b="0" i="0" dirty="0">
                <a:solidFill>
                  <a:srgbClr val="333333"/>
                </a:solidFill>
                <a:effectLst/>
                <a:latin typeface="Times New Roman" panose="02020603050405020304" pitchFamily="18" charset="0"/>
              </a:rPr>
              <a:t> VM architecture. The guest operating systems are para-virtualized.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They are assisted by an intelligent compiler to replace the nonvirtualizable OS instructions by </a:t>
            </a:r>
            <a:r>
              <a:rPr lang="en-US" sz="2400" b="0" i="0" dirty="0" err="1">
                <a:solidFill>
                  <a:srgbClr val="333333"/>
                </a:solidFill>
                <a:effectLst/>
                <a:latin typeface="Times New Roman" panose="02020603050405020304" pitchFamily="18" charset="0"/>
              </a:rPr>
              <a:t>hypercalls</a:t>
            </a:r>
            <a:r>
              <a:rPr lang="en-US" sz="2400" b="0" i="0" dirty="0">
                <a:solidFill>
                  <a:srgbClr val="333333"/>
                </a:solidFill>
                <a:effectLst/>
                <a:latin typeface="Times New Roman" panose="02020603050405020304" pitchFamily="18" charset="0"/>
              </a:rPr>
              <a:t> as illustrated in Figure b. </a:t>
            </a:r>
            <a:endParaRPr lang="en-US" sz="2400" dirty="0">
              <a:solidFill>
                <a:srgbClr val="333333"/>
              </a:solidFill>
              <a:latin typeface="Times New Roman" panose="02020603050405020304" pitchFamily="18" charset="0"/>
            </a:endParaRPr>
          </a:p>
          <a:p>
            <a:pPr algn="just"/>
            <a:endParaRPr lang="en-US" sz="2400" b="0" i="0" dirty="0">
              <a:solidFill>
                <a:srgbClr val="333333"/>
              </a:solidFill>
              <a:effectLst/>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 traditional x86 processor offers four instruction execution rings: Rings 0, 1, 2, and 3. The lower the ring number, the higher the privilege of instruction being executed.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 OS is responsible for managing the hardware and the privileged instructions to execute at Ring 0, while user-level applications run at Ring 3</a:t>
            </a:r>
            <a:endParaRPr lang="en-IN" sz="2400" dirty="0"/>
          </a:p>
        </p:txBody>
      </p:sp>
      <p:sp>
        <p:nvSpPr>
          <p:cNvPr id="4" name="TextBox 3">
            <a:extLst>
              <a:ext uri="{FF2B5EF4-FFF2-40B4-BE49-F238E27FC236}">
                <a16:creationId xmlns:a16="http://schemas.microsoft.com/office/drawing/2014/main" id="{663F42C2-D45A-2EB0-1172-D77E83B38FC2}"/>
              </a:ext>
            </a:extLst>
          </p:cNvPr>
          <p:cNvSpPr txBox="1"/>
          <p:nvPr/>
        </p:nvSpPr>
        <p:spPr>
          <a:xfrm>
            <a:off x="2637886" y="164704"/>
            <a:ext cx="6916228"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Para-Virtualization with Compiler Support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709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AE6795-8E8B-496D-0E49-F765B302EE18}"/>
              </a:ext>
            </a:extLst>
          </p:cNvPr>
          <p:cNvSpPr txBox="1"/>
          <p:nvPr/>
        </p:nvSpPr>
        <p:spPr>
          <a:xfrm>
            <a:off x="3487587" y="147451"/>
            <a:ext cx="5216825" cy="523220"/>
          </a:xfrm>
          <a:prstGeom prst="rect">
            <a:avLst/>
          </a:prstGeom>
          <a:noFill/>
        </p:spPr>
        <p:txBody>
          <a:bodyPr wrap="square">
            <a:spAutoFit/>
          </a:bodyPr>
          <a:lstStyle/>
          <a:p>
            <a:r>
              <a:rPr lang="en-IN" sz="2800" b="1" i="0" dirty="0">
                <a:solidFill>
                  <a:srgbClr val="333333"/>
                </a:solidFill>
                <a:effectLst/>
                <a:latin typeface="Times New Roman" panose="02020603050405020304" pitchFamily="18" charset="0"/>
                <a:cs typeface="Times New Roman" panose="02020603050405020304" pitchFamily="18" charset="0"/>
              </a:rPr>
              <a:t>Para-Virtualization Architecture</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63CA78-9721-9977-1F45-BBBC16B8B7DF}"/>
              </a:ext>
            </a:extLst>
          </p:cNvPr>
          <p:cNvSpPr txBox="1"/>
          <p:nvPr/>
        </p:nvSpPr>
        <p:spPr>
          <a:xfrm>
            <a:off x="260949" y="989026"/>
            <a:ext cx="11643504" cy="415498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When the x86 processor is virtualized, a virtualization layer is inserted between the hardware and the OS.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According to the x86 ring definition, the virtualization layer should also be installed at Ring 0. Different instructions at Ring 0 may cause some problems.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 Figure </a:t>
            </a:r>
            <a:r>
              <a:rPr lang="en-US" sz="2400" dirty="0">
                <a:solidFill>
                  <a:srgbClr val="333333"/>
                </a:solidFill>
                <a:latin typeface="Times New Roman" panose="02020603050405020304" pitchFamily="18" charset="0"/>
                <a:cs typeface="Times New Roman" panose="02020603050405020304" pitchFamily="18" charset="0"/>
              </a:rPr>
              <a:t>b</a:t>
            </a:r>
            <a:r>
              <a:rPr lang="en-US" sz="2400" b="0" i="0" dirty="0">
                <a:solidFill>
                  <a:srgbClr val="333333"/>
                </a:solidFill>
                <a:effectLst/>
                <a:latin typeface="Times New Roman" panose="02020603050405020304" pitchFamily="18" charset="0"/>
                <a:cs typeface="Times New Roman" panose="02020603050405020304" pitchFamily="18" charset="0"/>
              </a:rPr>
              <a:t>, the para-virtualization replaces nonvirtualizable instructions with </a:t>
            </a:r>
            <a:r>
              <a:rPr lang="en-US" sz="2400" b="0" i="0" dirty="0" err="1">
                <a:solidFill>
                  <a:srgbClr val="333333"/>
                </a:solidFill>
                <a:effectLst/>
                <a:latin typeface="Times New Roman" panose="02020603050405020304" pitchFamily="18" charset="0"/>
                <a:cs typeface="Times New Roman" panose="02020603050405020304" pitchFamily="18" charset="0"/>
              </a:rPr>
              <a:t>hypercalls</a:t>
            </a:r>
            <a:r>
              <a:rPr lang="en-US" sz="2400" b="0" i="0" dirty="0">
                <a:solidFill>
                  <a:srgbClr val="333333"/>
                </a:solidFill>
                <a:effectLst/>
                <a:latin typeface="Times New Roman" panose="02020603050405020304" pitchFamily="18" charset="0"/>
                <a:cs typeface="Times New Roman" panose="02020603050405020304" pitchFamily="18" charset="0"/>
              </a:rPr>
              <a:t> that communicate directly with the hypervisor or VMM.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However, when the guest OS kernel is modified for virtualization, it can no longer run on the hardware directly.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563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18FBAD-6E63-0127-0949-C9FC8A8203DD}"/>
              </a:ext>
            </a:extLst>
          </p:cNvPr>
          <p:cNvSpPr txBox="1"/>
          <p:nvPr/>
        </p:nvSpPr>
        <p:spPr>
          <a:xfrm>
            <a:off x="4324350" y="173330"/>
            <a:ext cx="35433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Virtualization of CPU</a:t>
            </a:r>
          </a:p>
        </p:txBody>
      </p:sp>
      <p:sp>
        <p:nvSpPr>
          <p:cNvPr id="5" name="TextBox 4">
            <a:extLst>
              <a:ext uri="{FF2B5EF4-FFF2-40B4-BE49-F238E27FC236}">
                <a16:creationId xmlns:a16="http://schemas.microsoft.com/office/drawing/2014/main" id="{3B104240-CE0E-2225-BD18-E50B51960EEB}"/>
              </a:ext>
            </a:extLst>
          </p:cNvPr>
          <p:cNvSpPr txBox="1"/>
          <p:nvPr/>
        </p:nvSpPr>
        <p:spPr>
          <a:xfrm>
            <a:off x="269574" y="1034064"/>
            <a:ext cx="11703889" cy="5632311"/>
          </a:xfrm>
          <a:prstGeom prst="rect">
            <a:avLst/>
          </a:prstGeom>
          <a:noFill/>
        </p:spPr>
        <p:txBody>
          <a:bodyPr wrap="square">
            <a:spAutoFit/>
          </a:bodyPr>
          <a:lstStyle/>
          <a:p>
            <a:pPr algn="just"/>
            <a:r>
              <a:rPr lang="en-US" sz="2400" b="0" i="0" dirty="0">
                <a:solidFill>
                  <a:srgbClr val="565656"/>
                </a:solidFill>
                <a:effectLst/>
                <a:latin typeface="Times New Roman" panose="02020603050405020304" pitchFamily="18" charset="0"/>
                <a:cs typeface="Times New Roman" panose="02020603050405020304" pitchFamily="18" charset="0"/>
              </a:rPr>
              <a:t>CPU virtualization emphasizes performance and runs directly on the processor whenever possible. The underlying physical resources are used whenever possible and the virtualization layer runs instructions only as needed to make virtual machines operate as if they were running directly on a physical machine.</a:t>
            </a:r>
          </a:p>
          <a:p>
            <a:pPr algn="just"/>
            <a:endParaRPr lang="en-US" sz="2400" dirty="0">
              <a:solidFill>
                <a:srgbClr val="565656"/>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VM is a duplicate of an existing computer system in which a majority of the VM instructions are executed on the host processor in native mode. Thus, unprivileged instructions of VMs run directly on the host machine for higher efficiency.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critical instructions are divided into three categories: privileged instructions, control-sensitive instructions, and behavior-sensitive instructions. Privileged instructions execute in a privileged mode and will be trapped if executed outside this mode. Control-sensitive instructions attempt to change the configuration of resources used. Behavior-sensitive instructions have different behaviors depending on the configuration of resources, including the load and store operations over the virtual memory.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407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F5059C-CE02-6455-E60E-0F910DFDC077}"/>
              </a:ext>
            </a:extLst>
          </p:cNvPr>
          <p:cNvSpPr txBox="1"/>
          <p:nvPr/>
        </p:nvSpPr>
        <p:spPr>
          <a:xfrm>
            <a:off x="217817" y="918107"/>
            <a:ext cx="11781526" cy="4893647"/>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A CPU architecture is virtualizable if it supports the ability to run the VM’s privileged and unprivileged instructions in the CPU’s user mode while the VMM runs in supervisor mode.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When the privileged instructions including control- and behavior-sensitive instructions of a VM are executed, they are trapped in the VMM. I</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n this case, the VMM acts as a unified mediator for hardware access from different VMs to guarantee the correctness and stability of the whole system.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However, not all CPU architectures are virtualizable. RISC CPU architectures can be naturally virtualized because all control- and behavior-sensitive instructions are privileged instructions.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On the contrary, x86 CPU architectures are not primarily designed to support virtualization.</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CE398F4-300F-14BC-69BF-FC59EA3DC199}"/>
              </a:ext>
            </a:extLst>
          </p:cNvPr>
          <p:cNvSpPr txBox="1"/>
          <p:nvPr/>
        </p:nvSpPr>
        <p:spPr>
          <a:xfrm>
            <a:off x="4324350" y="173330"/>
            <a:ext cx="35433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Virtualization of CPU</a:t>
            </a:r>
          </a:p>
        </p:txBody>
      </p:sp>
    </p:spTree>
    <p:extLst>
      <p:ext uri="{BB962C8B-B14F-4D97-AF65-F5344CB8AC3E}">
        <p14:creationId xmlns:p14="http://schemas.microsoft.com/office/powerpoint/2010/main" val="376139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15EEE-95F1-73D1-CE62-2C7291AD8AD5}"/>
              </a:ext>
            </a:extLst>
          </p:cNvPr>
          <p:cNvSpPr txBox="1"/>
          <p:nvPr/>
        </p:nvSpPr>
        <p:spPr>
          <a:xfrm>
            <a:off x="4238086" y="181957"/>
            <a:ext cx="3715828"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Memory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F90C47A-C02C-C600-73A3-79BE577ADDE6}"/>
              </a:ext>
            </a:extLst>
          </p:cNvPr>
          <p:cNvSpPr txBox="1"/>
          <p:nvPr/>
        </p:nvSpPr>
        <p:spPr>
          <a:xfrm>
            <a:off x="191937" y="979446"/>
            <a:ext cx="11833286" cy="4893647"/>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Virtual memory virtualization is similar to the virtual memory support provided by modern operating systems.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 a traditional execution environment, the operating system maintains mappings of virtual memory to machine memory using page tables, which is a one-stage mapping from virtual memory to machine memory.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All modern x86 CPUs include a memory management unit (MMU) and a translation lookaside buffer (TLB) to optimize virtual memory performance.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However, in a virtual execution environment, virtual memory virtualization involves sharing the physical system memory in RAM and dynamically allocating it to the physical memory of the VMs.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8344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ECCAD6-9B79-56F3-8FDE-0740C53FC1F2}"/>
              </a:ext>
            </a:extLst>
          </p:cNvPr>
          <p:cNvSpPr txBox="1"/>
          <p:nvPr/>
        </p:nvSpPr>
        <p:spPr>
          <a:xfrm>
            <a:off x="248662" y="843248"/>
            <a:ext cx="11730901" cy="3046988"/>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That means a two-stage mapping process should be maintained by the guest OS and the VMM, respectively: virtual memory to physical memory and physical memory to machine memory.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Furthermore, MMU virtualization should be supported, which is transparent to the guest OS. The guest OS continues to control the mapping of virtual addresses to the physical memory addresses of VMs. But the guest OS cannot directly access the actual machine memory. The VMM is responsible for mapping the guest physical memory to the actual machine memory.</a:t>
            </a:r>
            <a:endParaRPr lang="en-IN" sz="2400" dirty="0"/>
          </a:p>
        </p:txBody>
      </p:sp>
      <p:sp>
        <p:nvSpPr>
          <p:cNvPr id="4" name="TextBox 3">
            <a:extLst>
              <a:ext uri="{FF2B5EF4-FFF2-40B4-BE49-F238E27FC236}">
                <a16:creationId xmlns:a16="http://schemas.microsoft.com/office/drawing/2014/main" id="{2AFA15D0-4E70-58FD-9956-7AFCBA07BB5B}"/>
              </a:ext>
            </a:extLst>
          </p:cNvPr>
          <p:cNvSpPr txBox="1"/>
          <p:nvPr/>
        </p:nvSpPr>
        <p:spPr>
          <a:xfrm>
            <a:off x="4238086" y="181957"/>
            <a:ext cx="3715828" cy="523220"/>
          </a:xfrm>
          <a:prstGeom prst="rect">
            <a:avLst/>
          </a:prstGeom>
          <a:noFill/>
        </p:spPr>
        <p:txBody>
          <a:bodyPr wrap="square">
            <a:spAutoFit/>
          </a:bodyPr>
          <a:lstStyle/>
          <a:p>
            <a:r>
              <a:rPr lang="en-IN" sz="2800" b="1" i="0">
                <a:solidFill>
                  <a:srgbClr val="000000"/>
                </a:solidFill>
                <a:effectLst/>
                <a:latin typeface="Times New Roman" panose="02020603050405020304" pitchFamily="18" charset="0"/>
                <a:cs typeface="Times New Roman" panose="02020603050405020304" pitchFamily="18" charset="0"/>
              </a:rPr>
              <a:t>Memory Virtualization</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773268B-CE79-1F9C-DAB6-EBD8F9F1E942}"/>
              </a:ext>
            </a:extLst>
          </p:cNvPr>
          <p:cNvPicPr>
            <a:picLocks noChangeAspect="1"/>
          </p:cNvPicPr>
          <p:nvPr/>
        </p:nvPicPr>
        <p:blipFill>
          <a:blip r:embed="rId2"/>
          <a:stretch>
            <a:fillRect/>
          </a:stretch>
        </p:blipFill>
        <p:spPr>
          <a:xfrm>
            <a:off x="2737969" y="4201369"/>
            <a:ext cx="6716062" cy="2362530"/>
          </a:xfrm>
          <a:prstGeom prst="rect">
            <a:avLst/>
          </a:prstGeom>
        </p:spPr>
      </p:pic>
    </p:spTree>
    <p:extLst>
      <p:ext uri="{BB962C8B-B14F-4D97-AF65-F5344CB8AC3E}">
        <p14:creationId xmlns:p14="http://schemas.microsoft.com/office/powerpoint/2010/main" val="1079432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61022A-55A8-3517-E6C4-75D253D32CA0}"/>
              </a:ext>
            </a:extLst>
          </p:cNvPr>
          <p:cNvSpPr txBox="1"/>
          <p:nvPr/>
        </p:nvSpPr>
        <p:spPr>
          <a:xfrm>
            <a:off x="4643527" y="181957"/>
            <a:ext cx="2904945"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I/O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D7D72A-C6C8-086F-02BE-C2AFDD61A74C}"/>
              </a:ext>
            </a:extLst>
          </p:cNvPr>
          <p:cNvSpPr txBox="1"/>
          <p:nvPr/>
        </p:nvSpPr>
        <p:spPr>
          <a:xfrm>
            <a:off x="286828" y="930071"/>
            <a:ext cx="11721142" cy="1569660"/>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I/O virtualization involves managing the routing of I/O requests between virtual devices and the shared physical hardware. There are three ways to implement I/O virtualization: full device emulation, para-virtualization, and direct I/O. Full device emulation is the first approach for I/O virtualization.</a:t>
            </a:r>
            <a:endParaRPr lang="en-IN" sz="2400" dirty="0"/>
          </a:p>
        </p:txBody>
      </p:sp>
      <p:pic>
        <p:nvPicPr>
          <p:cNvPr id="7" name="Picture 6">
            <a:extLst>
              <a:ext uri="{FF2B5EF4-FFF2-40B4-BE49-F238E27FC236}">
                <a16:creationId xmlns:a16="http://schemas.microsoft.com/office/drawing/2014/main" id="{AF600400-8F59-2D3F-F48F-2EB8675D202B}"/>
              </a:ext>
            </a:extLst>
          </p:cNvPr>
          <p:cNvPicPr>
            <a:picLocks noChangeAspect="1"/>
          </p:cNvPicPr>
          <p:nvPr/>
        </p:nvPicPr>
        <p:blipFill>
          <a:blip r:embed="rId2"/>
          <a:stretch>
            <a:fillRect/>
          </a:stretch>
        </p:blipFill>
        <p:spPr>
          <a:xfrm>
            <a:off x="1245098" y="2658124"/>
            <a:ext cx="9701803" cy="4017919"/>
          </a:xfrm>
          <a:prstGeom prst="rect">
            <a:avLst/>
          </a:prstGeom>
        </p:spPr>
      </p:pic>
    </p:spTree>
    <p:extLst>
      <p:ext uri="{BB962C8B-B14F-4D97-AF65-F5344CB8AC3E}">
        <p14:creationId xmlns:p14="http://schemas.microsoft.com/office/powerpoint/2010/main" val="2444602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61022A-55A8-3517-E6C4-75D253D32CA0}"/>
              </a:ext>
            </a:extLst>
          </p:cNvPr>
          <p:cNvSpPr txBox="1"/>
          <p:nvPr/>
        </p:nvSpPr>
        <p:spPr>
          <a:xfrm>
            <a:off x="4643527" y="181957"/>
            <a:ext cx="2904945"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I/O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D7D72A-C6C8-086F-02BE-C2AFDD61A74C}"/>
              </a:ext>
            </a:extLst>
          </p:cNvPr>
          <p:cNvSpPr txBox="1"/>
          <p:nvPr/>
        </p:nvSpPr>
        <p:spPr>
          <a:xfrm>
            <a:off x="286828" y="930071"/>
            <a:ext cx="11721142" cy="5262979"/>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A single hardware device can be shared by multiple VMs that run concurrently. However, software emulation runs much slower than the hardware it emulates.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 para-virtualization method of I/O virtualization is typically used in Xen. It is also known as the split driver model consisting of a frontend driver and a backend driver.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 frontend driver is running in Domain U and the backend driver is running in Domain 0. They interact with each other via a block of shared memory.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The frontend driver manages the I/O requests of the guest OSes and the backend driver is responsible for managing the real I/O devices and multiplexing the I/O data of different VMs. </a:t>
            </a:r>
          </a:p>
          <a:p>
            <a:pPr algn="just"/>
            <a:endParaRPr lang="en-US" sz="2400" dirty="0">
              <a:solidFill>
                <a:srgbClr val="333333"/>
              </a:solidFill>
              <a:latin typeface="Times New Roman" panose="02020603050405020304" pitchFamily="18" charset="0"/>
            </a:endParaRPr>
          </a:p>
          <a:p>
            <a:pPr algn="just"/>
            <a:r>
              <a:rPr lang="en-US" sz="2400" b="0" i="1" dirty="0">
                <a:solidFill>
                  <a:srgbClr val="FF0000"/>
                </a:solidFill>
                <a:effectLst/>
                <a:latin typeface="Times New Roman" panose="02020603050405020304" pitchFamily="18" charset="0"/>
              </a:rPr>
              <a:t>Although para-I/O-virtualization achieves better device performance than full device emulation, it comes with a higher CPU overhead.</a:t>
            </a:r>
            <a:endParaRPr lang="en-IN" sz="2400" i="1" dirty="0">
              <a:solidFill>
                <a:srgbClr val="FF0000"/>
              </a:solidFill>
            </a:endParaRPr>
          </a:p>
        </p:txBody>
      </p:sp>
    </p:spTree>
    <p:extLst>
      <p:ext uri="{BB962C8B-B14F-4D97-AF65-F5344CB8AC3E}">
        <p14:creationId xmlns:p14="http://schemas.microsoft.com/office/powerpoint/2010/main" val="39930574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61022A-55A8-3517-E6C4-75D253D32CA0}"/>
              </a:ext>
            </a:extLst>
          </p:cNvPr>
          <p:cNvSpPr txBox="1"/>
          <p:nvPr/>
        </p:nvSpPr>
        <p:spPr>
          <a:xfrm>
            <a:off x="4643527" y="181957"/>
            <a:ext cx="2904945"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I/O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D7D72A-C6C8-086F-02BE-C2AFDD61A74C}"/>
              </a:ext>
            </a:extLst>
          </p:cNvPr>
          <p:cNvSpPr txBox="1"/>
          <p:nvPr/>
        </p:nvSpPr>
        <p:spPr>
          <a:xfrm>
            <a:off x="286828" y="930071"/>
            <a:ext cx="11721142" cy="5632311"/>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Direct I/O virtualization lets the VM access devices directly. It can achieve close-to-native performance without high CPU costs.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However, current direct I/O virtualization implementations focus on networking for mainframes. There are a lot of challenges for commodity hardware devices.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For example, when a physical device is reclaimed (required by workload migration) for later reassignment, it may have been set to an arbitrary state (e.g., DMA to some arbitrary memory locations) that can function incorrectly or even crash the whole system.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Since software-based I/O virtualization requires a very high overhead of device emulation, hardware-assisted I/O virtualization is critical. Intel VT-d supports the remapping of I/O DMA transfers and device-generated interrupts. The architecture of VT-d provides the flexibility to support multiple usage models that may run unmodified, special-purpose, or “virtualization-aware” guest OSes.</a:t>
            </a:r>
            <a:endParaRPr lang="en-IN" sz="2400" i="1" dirty="0">
              <a:solidFill>
                <a:srgbClr val="FF0000"/>
              </a:solidFill>
            </a:endParaRPr>
          </a:p>
        </p:txBody>
      </p:sp>
    </p:spTree>
    <p:extLst>
      <p:ext uri="{BB962C8B-B14F-4D97-AF65-F5344CB8AC3E}">
        <p14:creationId xmlns:p14="http://schemas.microsoft.com/office/powerpoint/2010/main" val="30524291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61022A-55A8-3517-E6C4-75D253D32CA0}"/>
              </a:ext>
            </a:extLst>
          </p:cNvPr>
          <p:cNvSpPr txBox="1"/>
          <p:nvPr/>
        </p:nvSpPr>
        <p:spPr>
          <a:xfrm>
            <a:off x="4643527" y="181957"/>
            <a:ext cx="2904945" cy="523220"/>
          </a:xfrm>
          <a:prstGeom prst="rect">
            <a:avLst/>
          </a:prstGeom>
          <a:noFill/>
        </p:spPr>
        <p:txBody>
          <a:bodyPr wrap="square">
            <a:spAutoFit/>
          </a:bodyPr>
          <a:lstStyle/>
          <a:p>
            <a:r>
              <a:rPr lang="en-IN" sz="2800" b="1" i="0" dirty="0">
                <a:solidFill>
                  <a:srgbClr val="000000"/>
                </a:solidFill>
                <a:effectLst/>
                <a:latin typeface="Times New Roman" panose="02020603050405020304" pitchFamily="18" charset="0"/>
                <a:cs typeface="Times New Roman" panose="02020603050405020304" pitchFamily="18" charset="0"/>
              </a:rPr>
              <a:t>I/O Virtualization</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D7D72A-C6C8-086F-02BE-C2AFDD61A74C}"/>
              </a:ext>
            </a:extLst>
          </p:cNvPr>
          <p:cNvSpPr txBox="1"/>
          <p:nvPr/>
        </p:nvSpPr>
        <p:spPr>
          <a:xfrm>
            <a:off x="286828" y="930071"/>
            <a:ext cx="11721142" cy="5632311"/>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Direct I/O virtualization lets the VM access devices directly. It can achieve close-to-native performance without high CPU costs.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However, current direct I/O virtualization implementations focus on networking for mainframes. There are a lot of challenges for commodity hardware devices.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For example, when a physical device is reclaimed (required by workload migration) for later reassignment, it may have been set to an arbitrary state (e.g., DMA to some arbitrary memory locations) that can function incorrectly or even crash the whole system.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Since software-based I/O virtualization requires a very high overhead of device emulation, hardware-assisted I/O virtualization is critical. Intel VT-d supports the remapping of I/O DMA transfers and device-generated interrupts. The architecture of VT-d provides the flexibility to support multiple usage models that may run unmodified, special-purpose, or “virtualization-aware” guest OSes.</a:t>
            </a:r>
            <a:endParaRPr lang="en-IN" sz="2400" i="1" dirty="0">
              <a:solidFill>
                <a:srgbClr val="FF0000"/>
              </a:solidFill>
            </a:endParaRPr>
          </a:p>
        </p:txBody>
      </p:sp>
    </p:spTree>
    <p:extLst>
      <p:ext uri="{BB962C8B-B14F-4D97-AF65-F5344CB8AC3E}">
        <p14:creationId xmlns:p14="http://schemas.microsoft.com/office/powerpoint/2010/main" val="2673361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73AA83-5D83-04AF-4DEE-DF26F69A1E08}"/>
              </a:ext>
            </a:extLst>
          </p:cNvPr>
          <p:cNvSpPr txBox="1"/>
          <p:nvPr/>
        </p:nvSpPr>
        <p:spPr>
          <a:xfrm>
            <a:off x="4183811" y="89691"/>
            <a:ext cx="3804249"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VIRTUAL CLUSTERS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633465-F623-2EF2-CFE3-DC83BFDF2E7D}"/>
              </a:ext>
            </a:extLst>
          </p:cNvPr>
          <p:cNvSpPr txBox="1"/>
          <p:nvPr/>
        </p:nvSpPr>
        <p:spPr>
          <a:xfrm>
            <a:off x="267419" y="926256"/>
            <a:ext cx="11637034" cy="5262979"/>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When a traditional VM is initialized, the administrator needs to manually write configuration information or specify the configuration sources.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When more VMs join a network, an inefficient configuration always causes problems with overloading or underutilization.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Amazon’s Elastic Compute Cloud (EC2) is a good example of a web service that provides elastic computing power in a cloud. EC2 permits customers to create VMs and to manage user accounts over the time of their use.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Most virtualization platforms, including </a:t>
            </a:r>
            <a:r>
              <a:rPr lang="en-US" sz="2400" b="0" i="0" dirty="0" err="1">
                <a:solidFill>
                  <a:srgbClr val="333333"/>
                </a:solidFill>
                <a:effectLst/>
                <a:latin typeface="Times New Roman" panose="02020603050405020304" pitchFamily="18" charset="0"/>
                <a:cs typeface="Times New Roman" panose="02020603050405020304" pitchFamily="18" charset="0"/>
              </a:rPr>
              <a:t>XenServer</a:t>
            </a:r>
            <a:r>
              <a:rPr lang="en-US" sz="2400" b="0" i="0" dirty="0">
                <a:solidFill>
                  <a:srgbClr val="333333"/>
                </a:solidFill>
                <a:effectLst/>
                <a:latin typeface="Times New Roman" panose="02020603050405020304" pitchFamily="18" charset="0"/>
                <a:cs typeface="Times New Roman" panose="02020603050405020304" pitchFamily="18" charset="0"/>
              </a:rPr>
              <a:t> and VMware ESX Server, support a </a:t>
            </a:r>
            <a:r>
              <a:rPr lang="en-US" sz="2400" b="0" i="0" dirty="0" err="1">
                <a:solidFill>
                  <a:srgbClr val="333333"/>
                </a:solidFill>
                <a:effectLst/>
                <a:latin typeface="Times New Roman" panose="02020603050405020304" pitchFamily="18" charset="0"/>
                <a:cs typeface="Times New Roman" panose="02020603050405020304" pitchFamily="18" charset="0"/>
              </a:rPr>
              <a:t>brid-ging</a:t>
            </a:r>
            <a:r>
              <a:rPr lang="en-US" sz="2400" b="0" i="0" dirty="0">
                <a:solidFill>
                  <a:srgbClr val="333333"/>
                </a:solidFill>
                <a:effectLst/>
                <a:latin typeface="Times New Roman" panose="02020603050405020304" pitchFamily="18" charset="0"/>
                <a:cs typeface="Times New Roman" panose="02020603050405020304" pitchFamily="18" charset="0"/>
              </a:rPr>
              <a:t> mode which allows all domains to appear on the network as individual hosts. By using this mode, VMs can communicate with one another freely through the virtual network interface card and configure the network automatically.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575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73AA83-5D83-04AF-4DEE-DF26F69A1E08}"/>
              </a:ext>
            </a:extLst>
          </p:cNvPr>
          <p:cNvSpPr txBox="1"/>
          <p:nvPr/>
        </p:nvSpPr>
        <p:spPr>
          <a:xfrm>
            <a:off x="3551207" y="145545"/>
            <a:ext cx="5089585"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Physical versus Virtual Clusters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633465-F623-2EF2-CFE3-DC83BFDF2E7D}"/>
              </a:ext>
            </a:extLst>
          </p:cNvPr>
          <p:cNvSpPr txBox="1"/>
          <p:nvPr/>
        </p:nvSpPr>
        <p:spPr>
          <a:xfrm>
            <a:off x="267419" y="926256"/>
            <a:ext cx="11637034" cy="3046988"/>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Virtual clusters are built with VMs installed at distributed servers from one or more physical clusters.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 VMs in a virtual cluster are interconnected logically by a virtual network across several physical networks.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Each virtual cluster is formed with physical machines or a VM hosted by multiple physical clusters. The virtual cluster boundaries are shown as distinct boundaries.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8212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E46170-A7E1-252E-1111-49A29C41CB8E}"/>
              </a:ext>
            </a:extLst>
          </p:cNvPr>
          <p:cNvPicPr>
            <a:picLocks noChangeAspect="1"/>
          </p:cNvPicPr>
          <p:nvPr/>
        </p:nvPicPr>
        <p:blipFill>
          <a:blip r:embed="rId2"/>
          <a:stretch>
            <a:fillRect/>
          </a:stretch>
        </p:blipFill>
        <p:spPr>
          <a:xfrm>
            <a:off x="453245" y="378691"/>
            <a:ext cx="11381076" cy="6049818"/>
          </a:xfrm>
          <a:prstGeom prst="rect">
            <a:avLst/>
          </a:prstGeom>
        </p:spPr>
      </p:pic>
    </p:spTree>
    <p:extLst>
      <p:ext uri="{BB962C8B-B14F-4D97-AF65-F5344CB8AC3E}">
        <p14:creationId xmlns:p14="http://schemas.microsoft.com/office/powerpoint/2010/main" val="2296167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73AA83-5D83-04AF-4DEE-DF26F69A1E08}"/>
              </a:ext>
            </a:extLst>
          </p:cNvPr>
          <p:cNvSpPr txBox="1"/>
          <p:nvPr/>
        </p:nvSpPr>
        <p:spPr>
          <a:xfrm>
            <a:off x="3551207" y="145545"/>
            <a:ext cx="5089585"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Physical versus Virtual Clusters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633465-F623-2EF2-CFE3-DC83BFDF2E7D}"/>
              </a:ext>
            </a:extLst>
          </p:cNvPr>
          <p:cNvSpPr txBox="1"/>
          <p:nvPr/>
        </p:nvSpPr>
        <p:spPr>
          <a:xfrm>
            <a:off x="267419" y="926256"/>
            <a:ext cx="11637034" cy="5262979"/>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The provisioning of VMs to a virtual cluster is done dynamically to have the following interesting properties:</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    The virtual cluster nodes can be either physical or virtual machines. Multiple VMs running with different OSes can be deployed on the same physical node.</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    A VM runs with a guest OS, which is often different from the host OS, that manages the resources in the physical machine, where the VM is implemented.</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    The purpose of using VMs is to consolidate multiple functionalities on the same server. This will greatly enhance server utilization and application flexibility.</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VMs can be colonized (replicated) in multiple servers for the purpose of promoting distributed parallelism, fault tolerance, and disaster recovery.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7131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B512C-744A-318F-421F-54F64FCE3C6F}"/>
              </a:ext>
            </a:extLst>
          </p:cNvPr>
          <p:cNvSpPr txBox="1"/>
          <p:nvPr/>
        </p:nvSpPr>
        <p:spPr>
          <a:xfrm>
            <a:off x="3580501" y="207836"/>
            <a:ext cx="5030997"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RESOURCE MANAGEMENT</a:t>
            </a:r>
            <a:endParaRPr lang="en-IN" sz="2800" dirty="0"/>
          </a:p>
        </p:txBody>
      </p:sp>
      <p:sp>
        <p:nvSpPr>
          <p:cNvPr id="5" name="TextBox 4">
            <a:extLst>
              <a:ext uri="{FF2B5EF4-FFF2-40B4-BE49-F238E27FC236}">
                <a16:creationId xmlns:a16="http://schemas.microsoft.com/office/drawing/2014/main" id="{E3439E4E-0C34-8CB1-5664-76B1F7836D38}"/>
              </a:ext>
            </a:extLst>
          </p:cNvPr>
          <p:cNvSpPr txBox="1"/>
          <p:nvPr/>
        </p:nvSpPr>
        <p:spPr>
          <a:xfrm>
            <a:off x="235070" y="1007709"/>
            <a:ext cx="11565866" cy="378565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Scheduling in a computing system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deciding how to allocate resources of a system, such as CPU cycles, memory, secondary storage space, I/O and network bandwidth, between users and tasks.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Policies and mechanisms for resource allocation.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principles guiding decisions.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means to implement policies.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3054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EB94E0-A8E8-AA64-B88E-2C8B929BC0B6}"/>
              </a:ext>
            </a:extLst>
          </p:cNvPr>
          <p:cNvSpPr txBox="1"/>
          <p:nvPr/>
        </p:nvSpPr>
        <p:spPr>
          <a:xfrm>
            <a:off x="295455" y="946847"/>
            <a:ext cx="11531360" cy="4154984"/>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Cloud resource management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Requires complex policies and decisions for multi-objective optimization.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It is challenging - the complexity of the system makes it impossible to have accurate global state information.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Affected by unpredictable interactions with the environment, e.g., system failures, attacks.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Cloud service providers are faced with large fluctuating loads which challenge the claim of cloud elasticity</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289E757-1213-E4C3-5D41-96A61F68C510}"/>
              </a:ext>
            </a:extLst>
          </p:cNvPr>
          <p:cNvSpPr txBox="1"/>
          <p:nvPr/>
        </p:nvSpPr>
        <p:spPr>
          <a:xfrm>
            <a:off x="3580501" y="207836"/>
            <a:ext cx="5030997" cy="523220"/>
          </a:xfrm>
          <a:prstGeom prst="rect">
            <a:avLst/>
          </a:prstGeom>
          <a:no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RESOURCE MANAGEMENT</a:t>
            </a:r>
            <a:endParaRPr lang="en-IN" sz="2800" dirty="0"/>
          </a:p>
        </p:txBody>
      </p:sp>
    </p:spTree>
    <p:extLst>
      <p:ext uri="{BB962C8B-B14F-4D97-AF65-F5344CB8AC3E}">
        <p14:creationId xmlns:p14="http://schemas.microsoft.com/office/powerpoint/2010/main" val="1587053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C0B1AC-DC50-9DB4-8238-9641883225EC}"/>
              </a:ext>
            </a:extLst>
          </p:cNvPr>
          <p:cNvSpPr txBox="1"/>
          <p:nvPr/>
        </p:nvSpPr>
        <p:spPr>
          <a:xfrm>
            <a:off x="2590440" y="190583"/>
            <a:ext cx="7011119"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Cloud resource management (CRM) policies</a:t>
            </a:r>
          </a:p>
        </p:txBody>
      </p:sp>
      <p:sp>
        <p:nvSpPr>
          <p:cNvPr id="5" name="TextBox 4">
            <a:extLst>
              <a:ext uri="{FF2B5EF4-FFF2-40B4-BE49-F238E27FC236}">
                <a16:creationId xmlns:a16="http://schemas.microsoft.com/office/drawing/2014/main" id="{4C25CEE3-40FD-89BA-7B4F-D7D3CA936933}"/>
              </a:ext>
            </a:extLst>
          </p:cNvPr>
          <p:cNvSpPr txBox="1"/>
          <p:nvPr/>
        </p:nvSpPr>
        <p:spPr>
          <a:xfrm>
            <a:off x="286827" y="980876"/>
            <a:ext cx="11583119" cy="4154984"/>
          </a:xfrm>
          <a:prstGeom prst="rect">
            <a:avLst/>
          </a:prstGeom>
          <a:noFill/>
        </p:spPr>
        <p:txBody>
          <a:bodyPr wrap="square">
            <a:spAutoFit/>
          </a:bodyPr>
          <a:lstStyle/>
          <a:p>
            <a:pPr marL="457200" indent="-457200" algn="just">
              <a:buAutoNum type="arabicPeriod"/>
            </a:pPr>
            <a:r>
              <a:rPr lang="en-US" sz="2400" dirty="0">
                <a:latin typeface="Times New Roman" panose="02020603050405020304" pitchFamily="18" charset="0"/>
                <a:cs typeface="Times New Roman" panose="02020603050405020304" pitchFamily="18" charset="0"/>
              </a:rPr>
              <a:t>Admission control  prevent the system from accepting workload in violation of high-level system policies. </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a:latin typeface="Times New Roman" panose="02020603050405020304" pitchFamily="18" charset="0"/>
                <a:cs typeface="Times New Roman" panose="02020603050405020304" pitchFamily="18" charset="0"/>
              </a:rPr>
              <a:t>Capacity allocation  allocate resources for individual activations of a service. </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a:latin typeface="Times New Roman" panose="02020603050405020304" pitchFamily="18" charset="0"/>
                <a:cs typeface="Times New Roman" panose="02020603050405020304" pitchFamily="18" charset="0"/>
              </a:rPr>
              <a:t>Load balancing  distribute the workload evenly among the servers. </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a:latin typeface="Times New Roman" panose="02020603050405020304" pitchFamily="18" charset="0"/>
                <a:cs typeface="Times New Roman" panose="02020603050405020304" pitchFamily="18" charset="0"/>
              </a:rPr>
              <a:t>Energy optimization  minimization of energy consumption. </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5. Quality of service (QoS) guarantees  ability to satisfy timing or other conditions specified by a Service Level Agreement.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1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D3432D-9FCC-6B98-0EFE-90A0D3AA5C01}"/>
              </a:ext>
            </a:extLst>
          </p:cNvPr>
          <p:cNvSpPr txBox="1"/>
          <p:nvPr/>
        </p:nvSpPr>
        <p:spPr>
          <a:xfrm>
            <a:off x="636557" y="250491"/>
            <a:ext cx="10918885"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Mechanisms for the implementation of resource management policies </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0ED8068-AEFF-720F-702F-90E08B4D97D8}"/>
              </a:ext>
            </a:extLst>
          </p:cNvPr>
          <p:cNvSpPr txBox="1"/>
          <p:nvPr/>
        </p:nvSpPr>
        <p:spPr>
          <a:xfrm>
            <a:off x="148806" y="1300530"/>
            <a:ext cx="11738394" cy="378565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 Control theory - uses the feedback to guarantee system stability and predict transient behavior.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Machine learning - does not need a performance model of the system.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Utility-based - require a performance model and a mechanism to correlate user-level performance with cost.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Market-oriented/economic - do not require a model of the system, e.g., combinatorial auctions for bundles of resources.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5410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5416AD-5BE2-317B-46CE-BDED57126DF0}"/>
              </a:ext>
            </a:extLst>
          </p:cNvPr>
          <p:cNvSpPr txBox="1"/>
          <p:nvPr/>
        </p:nvSpPr>
        <p:spPr>
          <a:xfrm>
            <a:off x="5234436" y="181957"/>
            <a:ext cx="1723127" cy="523220"/>
          </a:xfrm>
          <a:prstGeom prst="rect">
            <a:avLst/>
          </a:prstGeom>
          <a:noFill/>
        </p:spPr>
        <p:txBody>
          <a:bodyPr wrap="square">
            <a:spAutoFit/>
          </a:bodyPr>
          <a:lstStyle/>
          <a:p>
            <a:r>
              <a:rPr lang="en-IN" sz="2800" b="1" dirty="0" err="1">
                <a:latin typeface="Times New Roman" panose="02020603050405020304" pitchFamily="18" charset="0"/>
                <a:cs typeface="Times New Roman" panose="02020603050405020304" pitchFamily="18" charset="0"/>
              </a:rPr>
              <a:t>Tradeoffs</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9EC29D-3381-9A56-484F-9EFBBF756216}"/>
              </a:ext>
            </a:extLst>
          </p:cNvPr>
          <p:cNvSpPr txBox="1"/>
          <p:nvPr/>
        </p:nvSpPr>
        <p:spPr>
          <a:xfrm>
            <a:off x="278202" y="965531"/>
            <a:ext cx="11574492" cy="193899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 To reduce cost and save energy we may need to concentrate the load on fewer servers rather than balance the load among them.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We may also need to operate at a lower clock rate; the performance decreases at a lower rate than does the energy</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18E3093-C0EB-F62B-D974-F570CECCA44E}"/>
              </a:ext>
            </a:extLst>
          </p:cNvPr>
          <p:cNvPicPr>
            <a:picLocks noChangeAspect="1"/>
          </p:cNvPicPr>
          <p:nvPr/>
        </p:nvPicPr>
        <p:blipFill>
          <a:blip r:embed="rId2"/>
          <a:stretch>
            <a:fillRect/>
          </a:stretch>
        </p:blipFill>
        <p:spPr>
          <a:xfrm>
            <a:off x="2889661" y="3164877"/>
            <a:ext cx="6412677" cy="3511166"/>
          </a:xfrm>
          <a:prstGeom prst="rect">
            <a:avLst/>
          </a:prstGeom>
        </p:spPr>
      </p:pic>
    </p:spTree>
    <p:extLst>
      <p:ext uri="{BB962C8B-B14F-4D97-AF65-F5344CB8AC3E}">
        <p14:creationId xmlns:p14="http://schemas.microsoft.com/office/powerpoint/2010/main" val="2414109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2AE99F-EE56-6437-6D77-A66B9013C39C}"/>
              </a:ext>
            </a:extLst>
          </p:cNvPr>
          <p:cNvSpPr txBox="1"/>
          <p:nvPr/>
        </p:nvSpPr>
        <p:spPr>
          <a:xfrm>
            <a:off x="950343" y="250492"/>
            <a:ext cx="10291313"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Control theory application to cloud resource management (CRM)</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CB0668F-1CA1-D2C5-6593-B4393A3D134F}"/>
              </a:ext>
            </a:extLst>
          </p:cNvPr>
          <p:cNvSpPr txBox="1"/>
          <p:nvPr/>
        </p:nvSpPr>
        <p:spPr>
          <a:xfrm>
            <a:off x="304081" y="1075766"/>
            <a:ext cx="11557240" cy="341632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main components of a control system: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inputs - the offered workload and the policies for admission control, the capacity allocation, the load balancing, the energy optimization, and the QoS guarantees in the cloud.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control system components - sensors used to estimate relevant measures of performance and controllers which implement various policies.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outputs - the resource allocations to the individual applications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6922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71D5D2-01C6-579D-927C-77A32FBB9F40}"/>
              </a:ext>
            </a:extLst>
          </p:cNvPr>
          <p:cNvPicPr>
            <a:picLocks noChangeAspect="1"/>
          </p:cNvPicPr>
          <p:nvPr/>
        </p:nvPicPr>
        <p:blipFill>
          <a:blip r:embed="rId2"/>
          <a:stretch>
            <a:fillRect/>
          </a:stretch>
        </p:blipFill>
        <p:spPr>
          <a:xfrm>
            <a:off x="2033678" y="215318"/>
            <a:ext cx="8124644" cy="5029542"/>
          </a:xfrm>
          <a:prstGeom prst="rect">
            <a:avLst/>
          </a:prstGeom>
        </p:spPr>
      </p:pic>
      <p:sp>
        <p:nvSpPr>
          <p:cNvPr id="5" name="TextBox 4">
            <a:extLst>
              <a:ext uri="{FF2B5EF4-FFF2-40B4-BE49-F238E27FC236}">
                <a16:creationId xmlns:a16="http://schemas.microsoft.com/office/drawing/2014/main" id="{158812BB-7BC2-7268-A541-C6EB6F2D0ECF}"/>
              </a:ext>
            </a:extLst>
          </p:cNvPr>
          <p:cNvSpPr txBox="1"/>
          <p:nvPr/>
        </p:nvSpPr>
        <p:spPr>
          <a:xfrm>
            <a:off x="145210" y="5442353"/>
            <a:ext cx="11901577" cy="120032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Autonomous performance and power managers cooperate to ensure prescribed performance and energy optimization; they are fed with performance and power data and implement the performance and power management policies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601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0D97C4-9165-657B-D075-A43C57AD6487}"/>
              </a:ext>
            </a:extLst>
          </p:cNvPr>
          <p:cNvSpPr txBox="1"/>
          <p:nvPr/>
        </p:nvSpPr>
        <p:spPr>
          <a:xfrm>
            <a:off x="2663765" y="173330"/>
            <a:ext cx="686447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Virtualization for Data-</a:t>
            </a:r>
            <a:r>
              <a:rPr lang="en-IN" sz="2800" b="1" dirty="0" err="1">
                <a:latin typeface="Times New Roman" panose="02020603050405020304" pitchFamily="18" charset="0"/>
                <a:cs typeface="Times New Roman" panose="02020603050405020304" pitchFamily="18" charset="0"/>
              </a:rPr>
              <a:t>center</a:t>
            </a:r>
            <a:r>
              <a:rPr lang="en-IN" sz="2800" b="1" dirty="0">
                <a:latin typeface="Times New Roman" panose="02020603050405020304" pitchFamily="18" charset="0"/>
                <a:cs typeface="Times New Roman" panose="02020603050405020304" pitchFamily="18" charset="0"/>
              </a:rPr>
              <a:t> automation</a:t>
            </a:r>
          </a:p>
        </p:txBody>
      </p:sp>
      <p:pic>
        <p:nvPicPr>
          <p:cNvPr id="1026" name="Picture 2" descr="WHAT – Question Words – Learn English with Demi">
            <a:extLst>
              <a:ext uri="{FF2B5EF4-FFF2-40B4-BE49-F238E27FC236}">
                <a16:creationId xmlns:a16="http://schemas.microsoft.com/office/drawing/2014/main" id="{511C70B9-F57C-D11F-8F91-702B73583A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789" y="1111175"/>
            <a:ext cx="2135909" cy="21679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oogle Unveils New $750M Data Center As Part Of $9.5B Goal | CRN">
            <a:extLst>
              <a:ext uri="{FF2B5EF4-FFF2-40B4-BE49-F238E27FC236}">
                <a16:creationId xmlns:a16="http://schemas.microsoft.com/office/drawing/2014/main" id="{8D26FE6C-7E03-BC59-CC58-130856BC7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78684"/>
            <a:ext cx="5810250" cy="43624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1BEC5F9-77FB-0CA5-4549-102FE6339875}"/>
              </a:ext>
            </a:extLst>
          </p:cNvPr>
          <p:cNvSpPr/>
          <p:nvPr/>
        </p:nvSpPr>
        <p:spPr>
          <a:xfrm>
            <a:off x="476957" y="3279123"/>
            <a:ext cx="3595088"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hlinkClick r:id="rId4" action="ppaction://hlinksldjump"/>
              </a:rPr>
              <a:t>Data Center</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24671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A60DB0-B470-3DC0-AB92-903A4A8D61D8}"/>
              </a:ext>
            </a:extLst>
          </p:cNvPr>
          <p:cNvSpPr txBox="1"/>
          <p:nvPr/>
        </p:nvSpPr>
        <p:spPr>
          <a:xfrm>
            <a:off x="321332" y="342999"/>
            <a:ext cx="11686637" cy="4893647"/>
          </a:xfrm>
          <a:prstGeom prst="rect">
            <a:avLst/>
          </a:prstGeom>
          <a:noFill/>
        </p:spPr>
        <p:txBody>
          <a:bodyPr wrap="square">
            <a:spAutoFit/>
          </a:bodyPr>
          <a:lstStyle/>
          <a:p>
            <a:pPr algn="just"/>
            <a:r>
              <a:rPr lang="en-US" sz="2400" b="0" i="0" dirty="0">
                <a:solidFill>
                  <a:srgbClr val="4D4C4C"/>
                </a:solidFill>
                <a:effectLst/>
                <a:latin typeface="Times New Roman" panose="02020603050405020304" pitchFamily="18" charset="0"/>
                <a:cs typeface="Times New Roman" panose="02020603050405020304" pitchFamily="18" charset="0"/>
              </a:rPr>
              <a:t>A data center is a physical facility that organizations use to house their critical applications and data. </a:t>
            </a:r>
          </a:p>
          <a:p>
            <a:pPr algn="just"/>
            <a:endParaRPr lang="en-US" sz="2400" dirty="0">
              <a:solidFill>
                <a:srgbClr val="4D4C4C"/>
              </a:solidFill>
              <a:latin typeface="Times New Roman" panose="02020603050405020304" pitchFamily="18" charset="0"/>
              <a:cs typeface="Times New Roman" panose="02020603050405020304" pitchFamily="18" charset="0"/>
            </a:endParaRPr>
          </a:p>
          <a:p>
            <a:pPr algn="just"/>
            <a:r>
              <a:rPr lang="en-US" sz="2400" b="0" i="0" dirty="0">
                <a:solidFill>
                  <a:srgbClr val="4D4C4C"/>
                </a:solidFill>
                <a:effectLst/>
                <a:latin typeface="Times New Roman" panose="02020603050405020304" pitchFamily="18" charset="0"/>
                <a:cs typeface="Times New Roman" panose="02020603050405020304" pitchFamily="18" charset="0"/>
              </a:rPr>
              <a:t>A data center's design is based on a network of computing and storage resources that enable the delivery of shared applications and data. </a:t>
            </a:r>
          </a:p>
          <a:p>
            <a:pPr algn="just"/>
            <a:endParaRPr lang="en-US" sz="2400" dirty="0">
              <a:solidFill>
                <a:srgbClr val="4D4C4C"/>
              </a:solidFill>
              <a:latin typeface="Times New Roman" panose="02020603050405020304" pitchFamily="18" charset="0"/>
              <a:cs typeface="Times New Roman" panose="02020603050405020304" pitchFamily="18" charset="0"/>
            </a:endParaRPr>
          </a:p>
          <a:p>
            <a:pPr algn="just"/>
            <a:r>
              <a:rPr lang="en-US" sz="2400" b="0" i="0" dirty="0">
                <a:solidFill>
                  <a:srgbClr val="4D4C4C"/>
                </a:solidFill>
                <a:effectLst/>
                <a:latin typeface="Times New Roman" panose="02020603050405020304" pitchFamily="18" charset="0"/>
                <a:cs typeface="Times New Roman" panose="02020603050405020304" pitchFamily="18" charset="0"/>
              </a:rPr>
              <a:t>The key components of a data center design include routers, switches, firewalls, storage systems, servers, and application-delivery controllers.</a:t>
            </a:r>
          </a:p>
          <a:p>
            <a:pPr algn="just"/>
            <a:endParaRPr lang="en-US" sz="2400" dirty="0">
              <a:solidFill>
                <a:srgbClr val="4D4C4C"/>
              </a:solidFill>
              <a:latin typeface="Times New Roman" panose="02020603050405020304" pitchFamily="18" charset="0"/>
              <a:cs typeface="Times New Roman" panose="02020603050405020304" pitchFamily="18" charset="0"/>
            </a:endParaRPr>
          </a:p>
          <a:p>
            <a:pPr algn="just"/>
            <a:endParaRPr lang="en-US" sz="2400" b="1" i="1" dirty="0">
              <a:solidFill>
                <a:srgbClr val="0070C0"/>
              </a:solidFill>
              <a:latin typeface="Times New Roman" panose="02020603050405020304" pitchFamily="18" charset="0"/>
              <a:cs typeface="Times New Roman" panose="02020603050405020304" pitchFamily="18" charset="0"/>
            </a:endParaRPr>
          </a:p>
          <a:p>
            <a:pPr algn="just"/>
            <a:r>
              <a:rPr lang="en-US" sz="2400" b="1" i="1" dirty="0">
                <a:solidFill>
                  <a:srgbClr val="0070C0"/>
                </a:solidFill>
                <a:latin typeface="Times New Roman" panose="02020603050405020304" pitchFamily="18" charset="0"/>
                <a:cs typeface="Times New Roman" panose="02020603050405020304" pitchFamily="18" charset="0"/>
              </a:rPr>
              <a:t>A data center is a physical room, building or facility that houses IT infrastructure for building, running, and delivering applications and services, and for storing and managing the data associated with those applications and services.</a:t>
            </a:r>
            <a:endParaRPr lang="en-IN" sz="2400" b="1" i="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5807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0D97C4-9165-657B-D075-A43C57AD6487}"/>
              </a:ext>
            </a:extLst>
          </p:cNvPr>
          <p:cNvSpPr txBox="1"/>
          <p:nvPr/>
        </p:nvSpPr>
        <p:spPr>
          <a:xfrm>
            <a:off x="2663765" y="173330"/>
            <a:ext cx="686447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Virtualization for Data-</a:t>
            </a:r>
            <a:r>
              <a:rPr lang="en-IN" sz="2800" b="1" dirty="0" err="1">
                <a:latin typeface="Times New Roman" panose="02020603050405020304" pitchFamily="18" charset="0"/>
                <a:cs typeface="Times New Roman" panose="02020603050405020304" pitchFamily="18" charset="0"/>
              </a:rPr>
              <a:t>center</a:t>
            </a:r>
            <a:r>
              <a:rPr lang="en-IN" sz="2800" b="1" dirty="0">
                <a:latin typeface="Times New Roman" panose="02020603050405020304" pitchFamily="18" charset="0"/>
                <a:cs typeface="Times New Roman" panose="02020603050405020304" pitchFamily="18" charset="0"/>
              </a:rPr>
              <a:t> automation</a:t>
            </a:r>
          </a:p>
        </p:txBody>
      </p:sp>
      <p:sp>
        <p:nvSpPr>
          <p:cNvPr id="5" name="TextBox 4">
            <a:extLst>
              <a:ext uri="{FF2B5EF4-FFF2-40B4-BE49-F238E27FC236}">
                <a16:creationId xmlns:a16="http://schemas.microsoft.com/office/drawing/2014/main" id="{95C5F4AA-704F-3A94-A704-24F60D207209}"/>
              </a:ext>
            </a:extLst>
          </p:cNvPr>
          <p:cNvSpPr txBox="1"/>
          <p:nvPr/>
        </p:nvSpPr>
        <p:spPr>
          <a:xfrm>
            <a:off x="174684" y="1025915"/>
            <a:ext cx="11712515" cy="3785652"/>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Data center virtualization is the process of creating a modern data center that is highly </a:t>
            </a:r>
            <a:r>
              <a:rPr lang="en-US" sz="2400" b="1" i="0" dirty="0">
                <a:solidFill>
                  <a:srgbClr val="0070C0"/>
                </a:solidFill>
                <a:effectLst/>
                <a:latin typeface="Times New Roman" panose="02020603050405020304" pitchFamily="18" charset="0"/>
              </a:rPr>
              <a:t>scalable, available and secure</a:t>
            </a:r>
            <a:r>
              <a:rPr lang="en-US" sz="2400" b="0" i="0" dirty="0">
                <a:solidFill>
                  <a:srgbClr val="333333"/>
                </a:solidFill>
                <a:effectLst/>
                <a:latin typeface="Times New Roman" panose="02020603050405020304" pitchFamily="18" charset="0"/>
              </a:rPr>
              <a:t>.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With data center virtualization products you can increase </a:t>
            </a:r>
            <a:r>
              <a:rPr lang="en-US" sz="2400" b="1" i="0" dirty="0">
                <a:solidFill>
                  <a:srgbClr val="0070C0"/>
                </a:solidFill>
                <a:effectLst/>
                <a:latin typeface="Times New Roman" panose="02020603050405020304" pitchFamily="18" charset="0"/>
              </a:rPr>
              <a:t>IT agility </a:t>
            </a:r>
            <a:r>
              <a:rPr lang="en-US" sz="2400" b="0" i="0" dirty="0">
                <a:solidFill>
                  <a:srgbClr val="333333"/>
                </a:solidFill>
                <a:effectLst/>
                <a:latin typeface="Times New Roman" panose="02020603050405020304" pitchFamily="18" charset="0"/>
              </a:rPr>
              <a:t>and create a seamless foundation to manage private and public cloud services alongside traditional on-premises infrastructure.</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Data-center automation means that huge volumes of hardware, software, and database resources in these data centers can be allocated dynamically to millions of Internet users simultaneously, with guaranteed QoS and cost-effectiveness.</a:t>
            </a:r>
            <a:endParaRPr lang="en-IN" sz="2400" dirty="0"/>
          </a:p>
        </p:txBody>
      </p:sp>
    </p:spTree>
    <p:extLst>
      <p:ext uri="{BB962C8B-B14F-4D97-AF65-F5344CB8AC3E}">
        <p14:creationId xmlns:p14="http://schemas.microsoft.com/office/powerpoint/2010/main" val="3325824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C24D4B-A24D-728B-D8D6-4FD6823A33FB}"/>
              </a:ext>
            </a:extLst>
          </p:cNvPr>
          <p:cNvSpPr txBox="1"/>
          <p:nvPr/>
        </p:nvSpPr>
        <p:spPr>
          <a:xfrm>
            <a:off x="3048719" y="156077"/>
            <a:ext cx="6094562" cy="523220"/>
          </a:xfrm>
          <a:prstGeom prst="rect">
            <a:avLst/>
          </a:prstGeom>
          <a:noFill/>
        </p:spPr>
        <p:txBody>
          <a:bodyPr wrap="square">
            <a:spAutoFit/>
          </a:bodyPr>
          <a:lstStyle/>
          <a:p>
            <a:r>
              <a:rPr lang="it-IT" sz="2800" b="1" i="0" dirty="0">
                <a:solidFill>
                  <a:srgbClr val="000000"/>
                </a:solidFill>
                <a:effectLst/>
                <a:latin typeface="Times New Roman" panose="02020603050405020304" pitchFamily="18" charset="0"/>
                <a:cs typeface="Times New Roman" panose="02020603050405020304" pitchFamily="18" charset="0"/>
              </a:rPr>
              <a:t>Server Consolidation in Data Centers</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16DB5BB-4286-1FDF-7CBC-84366FA6C834}"/>
              </a:ext>
            </a:extLst>
          </p:cNvPr>
          <p:cNvSpPr txBox="1"/>
          <p:nvPr/>
        </p:nvSpPr>
        <p:spPr>
          <a:xfrm>
            <a:off x="278202" y="969388"/>
            <a:ext cx="11574492" cy="5632311"/>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In data centers, a large number of heterogeneous workloads can run on servers at various times.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These heterogeneous workloads can be roughly divided into two categories: </a:t>
            </a:r>
            <a:r>
              <a:rPr lang="en-US" sz="2400" b="1" i="1" dirty="0">
                <a:solidFill>
                  <a:srgbClr val="0070C0"/>
                </a:solidFill>
                <a:effectLst/>
                <a:latin typeface="Times New Roman" panose="02020603050405020304" pitchFamily="18" charset="0"/>
                <a:cs typeface="Times New Roman" panose="02020603050405020304" pitchFamily="18" charset="0"/>
              </a:rPr>
              <a:t>chatty workloads and </a:t>
            </a:r>
            <a:r>
              <a:rPr lang="en-US" sz="2400" b="1" i="1" dirty="0" err="1">
                <a:solidFill>
                  <a:srgbClr val="0070C0"/>
                </a:solidFill>
                <a:effectLst/>
                <a:latin typeface="Times New Roman" panose="02020603050405020304" pitchFamily="18" charset="0"/>
                <a:cs typeface="Times New Roman" panose="02020603050405020304" pitchFamily="18" charset="0"/>
              </a:rPr>
              <a:t>noninter</a:t>
            </a:r>
            <a:r>
              <a:rPr lang="en-US" sz="2400" b="1" i="1" dirty="0">
                <a:solidFill>
                  <a:srgbClr val="0070C0"/>
                </a:solidFill>
                <a:effectLst/>
                <a:latin typeface="Times New Roman" panose="02020603050405020304" pitchFamily="18" charset="0"/>
                <a:cs typeface="Times New Roman" panose="02020603050405020304" pitchFamily="18" charset="0"/>
              </a:rPr>
              <a:t>-active workloads</a:t>
            </a:r>
            <a:r>
              <a:rPr lang="en-US" sz="2400" b="0" i="0" dirty="0">
                <a:solidFill>
                  <a:srgbClr val="333333"/>
                </a:solidFill>
                <a:effectLst/>
                <a:latin typeface="Times New Roman" panose="02020603050405020304" pitchFamily="18" charset="0"/>
                <a:cs typeface="Times New Roman" panose="02020603050405020304" pitchFamily="18" charset="0"/>
              </a:rPr>
              <a:t>.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Chatty workloads may burst at some point and return to a silent state at some other point. A web video service is an example of this, whereby a lot of people use it at night and few people use it during the day. </a:t>
            </a:r>
          </a:p>
          <a:p>
            <a:pPr algn="just"/>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Noninteractive workloads do not require people’s efforts to make progress after they are submitted. High-performance computing is a typical example of this. At various stages, the requirements for resources of these workloads are dramatically different. However, to guarantee that a workload will always be able to cope with all demand levels, the workload is statically allocated enough resources so that peak demand is satisfied.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457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A8D50C-371A-29FD-9A19-3333143F0746}"/>
              </a:ext>
            </a:extLst>
          </p:cNvPr>
          <p:cNvSpPr txBox="1"/>
          <p:nvPr/>
        </p:nvSpPr>
        <p:spPr>
          <a:xfrm>
            <a:off x="200564" y="1471627"/>
            <a:ext cx="11721142" cy="4154984"/>
          </a:xfrm>
          <a:prstGeom prst="rect">
            <a:avLst/>
          </a:prstGeom>
          <a:noFill/>
        </p:spPr>
        <p:txBody>
          <a:bodyPr wrap="square">
            <a:spAutoFit/>
          </a:bodyPr>
          <a:lstStyle/>
          <a:p>
            <a:pPr algn="just"/>
            <a:r>
              <a:rPr lang="en-US" sz="2400" b="0" i="0" dirty="0">
                <a:solidFill>
                  <a:srgbClr val="333333"/>
                </a:solidFill>
                <a:effectLst/>
                <a:latin typeface="Times New Roman" panose="02020603050405020304" pitchFamily="18" charset="0"/>
              </a:rPr>
              <a:t>Server consolidation is an approach to improve the low utility ratio of hardware resources by reducing the number of physical servers.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Among several server consolidation techniques such as centralized and physical consolidation, virtualization-based server consolidation is the most powerful.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Data centers need to optimize their resource management. Yet these techniques are performed with the granularity of a full server machine, which makes resource management far from well optimized. </a:t>
            </a:r>
          </a:p>
          <a:p>
            <a:pPr algn="just"/>
            <a:endParaRPr lang="en-US" sz="2400" dirty="0">
              <a:solidFill>
                <a:srgbClr val="333333"/>
              </a:solidFill>
              <a:latin typeface="Times New Roman" panose="02020603050405020304" pitchFamily="18" charset="0"/>
            </a:endParaRPr>
          </a:p>
          <a:p>
            <a:pPr algn="just"/>
            <a:r>
              <a:rPr lang="en-US" sz="2400" b="0" i="0" dirty="0">
                <a:solidFill>
                  <a:srgbClr val="333333"/>
                </a:solidFill>
                <a:effectLst/>
                <a:latin typeface="Times New Roman" panose="02020603050405020304" pitchFamily="18" charset="0"/>
              </a:rPr>
              <a:t>Server virtualization enables smaller resource allocation than a physical machine.</a:t>
            </a:r>
            <a:endParaRPr lang="en-IN" sz="2400" dirty="0"/>
          </a:p>
        </p:txBody>
      </p:sp>
      <p:sp>
        <p:nvSpPr>
          <p:cNvPr id="4" name="TextBox 3">
            <a:extLst>
              <a:ext uri="{FF2B5EF4-FFF2-40B4-BE49-F238E27FC236}">
                <a16:creationId xmlns:a16="http://schemas.microsoft.com/office/drawing/2014/main" id="{A0CEC094-E324-660D-10B6-231E084200EA}"/>
              </a:ext>
            </a:extLst>
          </p:cNvPr>
          <p:cNvSpPr txBox="1"/>
          <p:nvPr/>
        </p:nvSpPr>
        <p:spPr>
          <a:xfrm>
            <a:off x="3048719" y="156077"/>
            <a:ext cx="6094562" cy="523220"/>
          </a:xfrm>
          <a:prstGeom prst="rect">
            <a:avLst/>
          </a:prstGeom>
          <a:noFill/>
        </p:spPr>
        <p:txBody>
          <a:bodyPr wrap="square">
            <a:spAutoFit/>
          </a:bodyPr>
          <a:lstStyle/>
          <a:p>
            <a:r>
              <a:rPr lang="it-IT" sz="2800" b="1" i="0" dirty="0">
                <a:solidFill>
                  <a:srgbClr val="000000"/>
                </a:solidFill>
                <a:effectLst/>
                <a:latin typeface="Times New Roman" panose="02020603050405020304" pitchFamily="18" charset="0"/>
                <a:cs typeface="Times New Roman" panose="02020603050405020304" pitchFamily="18" charset="0"/>
              </a:rPr>
              <a:t>Server Consolidation in Data Centers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1186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10C4FE-D4D3-E0BD-12F5-645D73639F84}"/>
              </a:ext>
            </a:extLst>
          </p:cNvPr>
          <p:cNvSpPr>
            <a:spLocks noChangeArrowheads="1"/>
          </p:cNvSpPr>
          <p:nvPr/>
        </p:nvSpPr>
        <p:spPr bwMode="auto">
          <a:xfrm>
            <a:off x="292209" y="243512"/>
            <a:ext cx="11780668"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7780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 detail, server consolidation has the following effects:</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Consolidation enhances hardware utilization. Many underutilized servers are consolidated into fewer servers to enhance resource utilization. Consolidation also facilitates backup services and disaster recovery.</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This approach enables more agile provisioning and deployment of resources. In a virtual environment, the images of the guest OSes and their applications are readily cloned and reused.</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The total cost of ownership is reduced. In this sense, server virtualization causes deferred purchases of new servers, a smaller data-center footprint, lower maintenance costs, and lower power, cooling, and cabling requirements.</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This approach improves availability and business continuity. The crash of a guest OS has no effect on the host OS or any other guest OS. It becomes easier to transfer a VM from one server to another, because virtual servers are unaware of the underlying hardware.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8029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5313</Words>
  <Application>Microsoft Office PowerPoint</Application>
  <PresentationFormat>Widescreen</PresentationFormat>
  <Paragraphs>389</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Times New Roman</vt:lpstr>
      <vt:lpstr>Office Theme</vt:lpstr>
      <vt:lpstr>Basics of Virtualization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Virtualization</dc:title>
  <dc:creator>SIVA RAMA KRISHNAN S</dc:creator>
  <cp:lastModifiedBy>SIVA RAMA KRISHNAN S</cp:lastModifiedBy>
  <cp:revision>68</cp:revision>
  <dcterms:created xsi:type="dcterms:W3CDTF">2023-08-17T10:03:35Z</dcterms:created>
  <dcterms:modified xsi:type="dcterms:W3CDTF">2023-08-22T04:02:39Z</dcterms:modified>
</cp:coreProperties>
</file>